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6" r:id="rId1"/>
  </p:sldMasterIdLst>
  <p:notesMasterIdLst>
    <p:notesMasterId r:id="rId22"/>
  </p:notesMasterIdLst>
  <p:handoutMasterIdLst>
    <p:handoutMasterId r:id="rId23"/>
  </p:handoutMasterIdLst>
  <p:sldIdLst>
    <p:sldId id="375" r:id="rId2"/>
    <p:sldId id="282" r:id="rId3"/>
    <p:sldId id="376" r:id="rId4"/>
    <p:sldId id="377" r:id="rId5"/>
    <p:sldId id="378" r:id="rId6"/>
    <p:sldId id="388" r:id="rId7"/>
    <p:sldId id="379" r:id="rId8"/>
    <p:sldId id="380" r:id="rId9"/>
    <p:sldId id="389" r:id="rId10"/>
    <p:sldId id="381" r:id="rId11"/>
    <p:sldId id="382" r:id="rId12"/>
    <p:sldId id="374" r:id="rId13"/>
    <p:sldId id="390" r:id="rId14"/>
    <p:sldId id="383" r:id="rId15"/>
    <p:sldId id="384" r:id="rId16"/>
    <p:sldId id="385" r:id="rId17"/>
    <p:sldId id="386" r:id="rId18"/>
    <p:sldId id="387" r:id="rId19"/>
    <p:sldId id="391" r:id="rId20"/>
    <p:sldId id="322" r:id="rId21"/>
  </p:sldIdLst>
  <p:sldSz cx="9144000" cy="5143500" type="screen16x9"/>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89586E-9AE2-4E89-BEBE-488BC1574881}">
          <p14:sldIdLst>
            <p14:sldId id="375"/>
            <p14:sldId id="282"/>
            <p14:sldId id="376"/>
            <p14:sldId id="377"/>
            <p14:sldId id="378"/>
            <p14:sldId id="388"/>
            <p14:sldId id="379"/>
            <p14:sldId id="380"/>
            <p14:sldId id="389"/>
            <p14:sldId id="381"/>
            <p14:sldId id="382"/>
            <p14:sldId id="374"/>
            <p14:sldId id="390"/>
            <p14:sldId id="383"/>
            <p14:sldId id="384"/>
            <p14:sldId id="385"/>
            <p14:sldId id="386"/>
            <p14:sldId id="387"/>
            <p14:sldId id="391"/>
            <p14:sldId id="322"/>
          </p14:sldIdLst>
        </p14:section>
        <p14:section name="STYLE GUIDELINES" id="{19907E42-BDD1-4BFF-A82E-69C24E010B9F}">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53238"/>
    <a:srgbClr val="0B2E5D"/>
    <a:srgbClr val="7F7F7F"/>
    <a:srgbClr val="71D83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463663-54F1-B741-8009-F55F8D31F635}" v="206" dt="2026-04-03T12:46:32.798"/>
  </p1510:revLst>
</p1510:revInfo>
</file>

<file path=ppt/tableStyles.xml><?xml version="1.0" encoding="utf-8"?>
<a:tblStyleLst xmlns:a="http://schemas.openxmlformats.org/drawingml/2006/main" def="{5C22544A-7EE6-4342-B048-85BDC9FD1C3A}">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25E5076-3810-47DD-B79F-674D7AD40C01}" styleName="Stile scuro 1 - Color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Stile scuro 1 - Colore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Stile scuro 1 - Colore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Stile scuro 2 - Colore 3/Colore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03447BB-5D67-496B-8E87-E561075AD55C}" styleName="Stile scuro 1 - Colore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80" autoAdjust="0"/>
    <p:restoredTop sz="80325" autoAdjust="0"/>
  </p:normalViewPr>
  <p:slideViewPr>
    <p:cSldViewPr snapToGrid="0" snapToObjects="1">
      <p:cViewPr varScale="1">
        <p:scale>
          <a:sx n="154" d="100"/>
          <a:sy n="154" d="100"/>
        </p:scale>
        <p:origin x="1288" y="192"/>
      </p:cViewPr>
      <p:guideLst>
        <p:guide orient="horz" pos="1620"/>
        <p:guide pos="2880"/>
      </p:guideLst>
    </p:cSldViewPr>
  </p:slideViewPr>
  <p:notesTextViewPr>
    <p:cViewPr>
      <p:scale>
        <a:sx n="100" d="100"/>
        <a:sy n="100" d="100"/>
      </p:scale>
      <p:origin x="0" y="0"/>
    </p:cViewPr>
  </p:notesTextViewPr>
  <p:sorterViewPr>
    <p:cViewPr>
      <p:scale>
        <a:sx n="65" d="100"/>
        <a:sy n="65" d="100"/>
      </p:scale>
      <p:origin x="0" y="-326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6D4E21-AA1D-BE49-8829-DEA10D5CF4C8}" type="datetimeFigureOut">
              <a:rPr lang="it-IT" smtClean="0"/>
              <a:t>03/04/26</a:t>
            </a:fld>
            <a:endParaRPr lang="it-IT"/>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DF8DF2B-E534-A049-A267-F065CD458300}" type="slidenum">
              <a:rPr lang="it-IT" smtClean="0"/>
              <a:t>‹#›</a:t>
            </a:fld>
            <a:endParaRPr lang="it-IT"/>
          </a:p>
        </p:txBody>
      </p:sp>
    </p:spTree>
    <p:extLst>
      <p:ext uri="{BB962C8B-B14F-4D97-AF65-F5344CB8AC3E}">
        <p14:creationId xmlns:p14="http://schemas.microsoft.com/office/powerpoint/2010/main" val="8848907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F6D68F-7DBE-1C48-BC1F-E6A07B52C7E0}" type="datetimeFigureOut">
              <a:rPr lang="it-IT" smtClean="0"/>
              <a:t>03/04/26</a:t>
            </a:fld>
            <a:endParaRPr lang="it-IT"/>
          </a:p>
        </p:txBody>
      </p:sp>
      <p:sp>
        <p:nvSpPr>
          <p:cNvPr id="4" name="Segnaposto immagin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C7627C-DB68-9A4D-8B30-F0E92B6BDF8F}" type="slidenum">
              <a:rPr lang="it-IT" smtClean="0"/>
              <a:t>‹#›</a:t>
            </a:fld>
            <a:endParaRPr lang="it-IT"/>
          </a:p>
        </p:txBody>
      </p:sp>
    </p:spTree>
    <p:extLst>
      <p:ext uri="{BB962C8B-B14F-4D97-AF65-F5344CB8AC3E}">
        <p14:creationId xmlns:p14="http://schemas.microsoft.com/office/powerpoint/2010/main" val="246503266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T"/>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10"/>
          </p:nvPr>
        </p:nvSpPr>
        <p:spPr/>
        <p:txBody>
          <a:bodyPr/>
          <a:lstStyle/>
          <a:p>
            <a:fld id="{CAC7627C-DB68-9A4D-8B30-F0E92B6BDF8F}" type="slidenum">
              <a:rPr lang="it-IT" smtClean="0"/>
              <a:t>1</a:t>
            </a:fld>
            <a:endParaRPr lang="it-IT"/>
          </a:p>
        </p:txBody>
      </p:sp>
    </p:spTree>
    <p:extLst>
      <p:ext uri="{BB962C8B-B14F-4D97-AF65-F5344CB8AC3E}">
        <p14:creationId xmlns:p14="http://schemas.microsoft.com/office/powerpoint/2010/main" val="1931627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AGENDA — Session roadmap</a:t>
            </a:r>
          </a:p>
          <a:p>
            <a:endParaRPr lang="en-US" sz="1200" dirty="0"/>
          </a:p>
          <a:p>
            <a:r>
              <a:rPr lang="en-US" sz="1200" dirty="0"/>
              <a:t>Walk the audience through the four blocks covered today:</a:t>
            </a:r>
          </a:p>
          <a:p>
            <a:r>
              <a:rPr lang="en-US" sz="1200" dirty="0"/>
              <a:t>  1. What is Claude Code — the big picture, why it is different from a chat assistant</a:t>
            </a:r>
          </a:p>
          <a:p>
            <a:r>
              <a:rPr lang="en-US" sz="1200" dirty="0"/>
              <a:t>  2. How it actually works — the agentic loop, the tools it has access to</a:t>
            </a:r>
          </a:p>
          <a:p>
            <a:r>
              <a:rPr lang="en-US" sz="1200" dirty="0"/>
              <a:t>  3. Memory and settings — how to make it context-aware and persistent across sessions</a:t>
            </a:r>
          </a:p>
          <a:p>
            <a:r>
              <a:rPr lang="en-US" sz="1200" dirty="0"/>
              <a:t>  4. Extending Claude Code — Skills, MCP, Subagents, and Hooks</a:t>
            </a:r>
          </a:p>
          <a:p>
            <a:endParaRPr lang="en-US" sz="1200" dirty="0"/>
          </a:p>
          <a:p>
            <a:r>
              <a:rPr lang="en-US" sz="1200" dirty="0"/>
              <a:t>Say: "By the end you will have a clear mental model of how to use Claude Code in real projects — not just as a chat box but as a genuine coding teammate."</a:t>
            </a:r>
          </a:p>
          <a:p>
            <a:endParaRPr lang="en-US" sz="1200" dirty="0"/>
          </a:p>
          <a:p>
            <a:r>
              <a:rPr lang="en-US" sz="1200" dirty="0"/>
              <a:t>Transition: let us start with the basics.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WHAT IS CLAUDE CODE? — Core concept</a:t>
            </a:r>
          </a:p>
          <a:p>
            <a:endParaRPr lang="en-US" sz="1200" dirty="0"/>
          </a:p>
          <a:p>
            <a:r>
              <a:rPr lang="en-US" sz="1200" dirty="0"/>
              <a:t>Key message: this is NOT a chatbot with code syntax highlighting. It is an autonomous coding agent that plans, executes, and iterates end-to-end.</a:t>
            </a:r>
          </a:p>
          <a:p>
            <a:endParaRPr lang="en-US" sz="1200" dirty="0"/>
          </a:p>
          <a:p>
            <a:r>
              <a:rPr lang="en-US" sz="1200" dirty="0"/>
              <a:t>Walk through each capability:</a:t>
            </a:r>
          </a:p>
          <a:p>
            <a:r>
              <a:rPr lang="en-US" sz="1200" dirty="0"/>
              <a:t>  - "Reads your whole project" — explores the entire repo, reads multiple files, understands imports and dependencies. Not just the snippet you paste in.</a:t>
            </a:r>
          </a:p>
          <a:p>
            <a:r>
              <a:rPr lang="en-US" sz="1200" dirty="0"/>
              <a:t>  - "Edits files across multiple locations" — a single task can modify 10+ files consistently and coherently.</a:t>
            </a:r>
          </a:p>
          <a:p>
            <a:r>
              <a:rPr lang="en-US" sz="1200" dirty="0"/>
              <a:t>  - "Runs shell commands and tests" — real terminal commands: npm install, pytest, git commit. It sees output and reacts to errors automatically.</a:t>
            </a:r>
          </a:p>
          <a:p>
            <a:r>
              <a:rPr lang="en-US" sz="1200" dirty="0"/>
              <a:t>  - "Works with git, npm, your CI pipeline" — integrates with the tools your team already uses.</a:t>
            </a:r>
          </a:p>
          <a:p>
            <a:r>
              <a:rPr lang="en-US" sz="1200" dirty="0"/>
              <a:t>  - "Connects to external services via MCP" — via the Model Context Protocol it can reach databases, APIs, Slack, GitHub, and more (covered in chapter 4).</a:t>
            </a:r>
          </a:p>
          <a:p>
            <a:endParaRPr lang="en-US" sz="1200" dirty="0"/>
          </a:p>
          <a:p>
            <a:r>
              <a:rPr lang="en-US" sz="1200" dirty="0"/>
              <a:t>The bottom line: "You describe the goal. It plans and executes the steps." This is the fundamental shift from autocomplete to autonomous execution.</a:t>
            </a:r>
          </a:p>
          <a:p>
            <a:endParaRPr lang="en-US" sz="1200" dirty="0"/>
          </a:p>
          <a:p>
            <a:r>
              <a:rPr lang="en-US" sz="1200" dirty="0"/>
              <a:t>Rhetorical question: "How is this different from GitHub Copilot?"</a:t>
            </a:r>
          </a:p>
          <a:p>
            <a:r>
              <a:rPr lang="en-US" sz="1200" dirty="0"/>
              <a:t>Answer: Copilot completes lines. Claude Code plans and executes multi-step tasks with real tool use and live feedback loops. It can work for minutes to hours on a single task without your intervention.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WHERE DOES IT RUN? — Platform flexibility</a:t>
            </a:r>
          </a:p>
          <a:p>
            <a:endParaRPr lang="en-US" sz="1200" dirty="0"/>
          </a:p>
          <a:p>
            <a:r>
              <a:rPr lang="en-US" sz="1200" dirty="0"/>
              <a:t>Claude Code meets developers where they already work. You do not need to change your workflow.</a:t>
            </a:r>
          </a:p>
          <a:p>
            <a:endParaRPr lang="en-US" sz="1200" dirty="0"/>
          </a:p>
          <a:p>
            <a:r>
              <a:rPr lang="en-US" sz="1200" dirty="0"/>
              <a:t>Walk through each platform:</a:t>
            </a:r>
          </a:p>
          <a:p>
            <a:r>
              <a:rPr lang="en-US" sz="1200" dirty="0"/>
              <a:t>  - Terminal (CLI) — the most powerful mode; full tool access, ideal for complex tasks and automation. Install: npm install -g @anthropic-ai/claude-code</a:t>
            </a:r>
          </a:p>
          <a:p>
            <a:r>
              <a:rPr lang="en-US" sz="1200" dirty="0"/>
              <a:t>  - VS Code — native extension with inline diffs, @-mentions, and plan review. Available in the VS Code marketplace.</a:t>
            </a:r>
          </a:p>
          <a:p>
            <a:r>
              <a:rPr lang="en-US" sz="1200" dirty="0"/>
              <a:t>  - Desktop App — standalone app with extras: parallel sessions with git isolation, visual diff review, app previews, PR monitoring, computer-use mode so Claude can interact with your actual screen.</a:t>
            </a:r>
          </a:p>
          <a:p>
            <a:r>
              <a:rPr lang="en-US" sz="1200" dirty="0"/>
              <a:t>  - Browser (claude.ai/code) — cloud-hosted; run tasks asynchronously without a local environment. Great for background work or on-the-go access.</a:t>
            </a:r>
          </a:p>
          <a:p>
            <a:r>
              <a:rPr lang="en-US" sz="1200" dirty="0"/>
              <a:t>  - Also available in: JetBrains IDEs, GitHub Actions, GitLab CI/CD, Slack, and programmatically via the Agent SDK (Python/TypeScript).</a:t>
            </a:r>
          </a:p>
          <a:p>
            <a:endParaRPr lang="en-US" sz="1200" dirty="0"/>
          </a:p>
          <a:p>
            <a:r>
              <a:rPr lang="en-US" sz="1200" dirty="0"/>
              <a:t>For the lab camp: we will mainly use the CLI or VS Code extension — the most accessible for hands-on work.</a:t>
            </a:r>
          </a:p>
          <a:p>
            <a:endParaRPr lang="en-US" sz="1200" dirty="0"/>
          </a:p>
          <a:p>
            <a:r>
              <a:rPr lang="en-US" sz="1200" dirty="0"/>
              <a:t>Each surface has its own strengths:</a:t>
            </a:r>
          </a:p>
          <a:p>
            <a:r>
              <a:rPr lang="en-US" sz="1200" dirty="0"/>
              <a:t>  - CLI is best for scripting, automation, and headless use</a:t>
            </a:r>
          </a:p>
          <a:p>
            <a:r>
              <a:rPr lang="en-US" sz="1200" dirty="0"/>
              <a:t>  - VS Code extension is best for developers who want AI assistance inline while coding</a:t>
            </a:r>
          </a:p>
          <a:p>
            <a:r>
              <a:rPr lang="en-US" sz="1200" dirty="0"/>
              <a:t>  - Desktop app adds computer-use and parallel sessions for power users</a:t>
            </a:r>
          </a:p>
          <a:p>
            <a:r>
              <a:rPr lang="en-US" sz="1200" dirty="0"/>
              <a:t>  - Web is best for async, background, or mobile-triggered tasks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CHAPTER 2 INTRO — How It Actually Works</a:t>
            </a:r>
          </a:p>
          <a:p>
            <a:endParaRPr lang="en-US" sz="1200" dirty="0"/>
          </a:p>
          <a:p>
            <a:r>
              <a:rPr lang="en-US" sz="1200" dirty="0"/>
              <a:t>Transition slide — use as a deliberate pacing beat between the overview section and the technical deep-dive.</a:t>
            </a:r>
          </a:p>
          <a:p>
            <a:endParaRPr lang="en-US" sz="1200" dirty="0"/>
          </a:p>
          <a:p>
            <a:r>
              <a:rPr lang="en-US" sz="1200" dirty="0"/>
              <a:t>Say something like: "Now that we know what Claude Code can do and where it runs, let's open the hood. Understanding HOW it actually executes tasks will help you write better prompts, make smarter use of the tools, and know exactly when and how to intervene."</a:t>
            </a:r>
          </a:p>
          <a:p>
            <a:endParaRPr lang="en-US" sz="1200" dirty="0"/>
          </a:p>
          <a:p>
            <a:r>
              <a:rPr lang="en-US" sz="1200" dirty="0"/>
              <a:t>What this chapter covers:</a:t>
            </a:r>
          </a:p>
          <a:p>
            <a:r>
              <a:rPr lang="en-US" sz="1200" dirty="0"/>
              <a:t>  - The Agentic Loop — the core execution cycle that drives all of Claude's work</a:t>
            </a:r>
          </a:p>
          <a:p>
            <a:r>
              <a:rPr lang="en-US" sz="1200" dirty="0"/>
              <a:t>  - Built-in Tools — the specific capabilities Claude can invoke during that loop</a:t>
            </a:r>
          </a:p>
          <a:p>
            <a:endParaRPr lang="en-US" sz="1200" dirty="0"/>
          </a:p>
          <a:p>
            <a:r>
              <a:rPr lang="en-US" sz="1200" dirty="0"/>
              <a:t>Tip for the speaker: if you have a relatable analogy ready, use it here. Example: "Think of it like a developer who, instead of asking you questions all day, reads the relevant files themselves, runs the tests, reads the output, and comes back when they have a solution — or when they genuinely need your input."</a:t>
            </a:r>
          </a:p>
          <a:p>
            <a:endParaRPr lang="en-US" sz="1200" dirty="0"/>
          </a:p>
          <a:p>
            <a:r>
              <a:rPr lang="en-US" sz="1200" dirty="0"/>
              <a:t>Keep it brief — this is a visual transition slide, not a content slide. Move on to the Agentic Loop slide promptly.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THE AGENTIC LOOP — Core execution model</a:t>
            </a:r>
          </a:p>
          <a:p>
            <a:endParaRPr lang="en-US" sz="1200" dirty="0"/>
          </a:p>
          <a:p>
            <a:r>
              <a:rPr lang="en-US" sz="1200" dirty="0"/>
              <a:t>Take your time here — this is one of the most important conceptual slides in the deck.</a:t>
            </a:r>
          </a:p>
          <a:p>
            <a:endParaRPr lang="en-US" sz="1200" dirty="0"/>
          </a:p>
          <a:p>
            <a:r>
              <a:rPr lang="en-US" sz="1200" dirty="0"/>
              <a:t>The loop step by step:</a:t>
            </a:r>
          </a:p>
          <a:p>
            <a:r>
              <a:rPr lang="en-US" sz="1200" dirty="0"/>
              <a:t>  1. You send a prompt — a goal or task description</a:t>
            </a:r>
          </a:p>
          <a:p>
            <a:r>
              <a:rPr lang="en-US" sz="1200" dirty="0"/>
              <a:t>  2. Claude reasons — decides which tool to call next to make progress</a:t>
            </a:r>
          </a:p>
          <a:p>
            <a:r>
              <a:rPr lang="en-US" sz="1200" dirty="0"/>
              <a:t>  3. It calls a tool — reads a file, runs a command, writes code, fetches a URL</a:t>
            </a:r>
          </a:p>
          <a:p>
            <a:r>
              <a:rPr lang="en-US" sz="1200" dirty="0"/>
              <a:t>  4. It sees the result — evaluates whether the task is done or if another step is needed</a:t>
            </a:r>
          </a:p>
          <a:p>
            <a:r>
              <a:rPr lang="en-US" sz="1200" dirty="0"/>
              <a:t>  5. It loops back to step 2 until the goal is achieved (or it asks you for clarification)</a:t>
            </a:r>
          </a:p>
          <a:p>
            <a:endParaRPr lang="en-US" sz="1200" dirty="0"/>
          </a:p>
          <a:p>
            <a:r>
              <a:rPr lang="en-US" sz="1200" dirty="0"/>
              <a:t>Key insight: this is NOT one-shot "generate and paste." It is an iterative reasoning and execution cycle. Claude can take dozens of steps on a complex task.</a:t>
            </a:r>
          </a:p>
          <a:p>
            <a:endParaRPr lang="en-US" sz="1200" dirty="0"/>
          </a:p>
          <a:p>
            <a:r>
              <a:rPr lang="en-US" sz="1200" dirty="0"/>
              <a:t>"You can interrupt and steer at any point" — the human is always in control:</a:t>
            </a:r>
          </a:p>
          <a:p>
            <a:r>
              <a:rPr lang="en-US" sz="1200" dirty="0"/>
              <a:t>  - Stop and redirect at any moment by typing in the session</a:t>
            </a:r>
          </a:p>
          <a:p>
            <a:r>
              <a:rPr lang="en-US" sz="1200" dirty="0"/>
              <a:t>  - Use Plan Mode (Shift+Tab in CLI, or the mode selector in VS Code/Desktop) to review Claude's plan BEFORE execution — highly recommended for big or risky tasks</a:t>
            </a:r>
          </a:p>
          <a:p>
            <a:r>
              <a:rPr lang="en-US" sz="1200" dirty="0"/>
              <a:t>  - Add follow-up instructions mid-task to course-correct</a:t>
            </a:r>
          </a:p>
          <a:p>
            <a:endParaRPr lang="en-US" sz="1200" dirty="0"/>
          </a:p>
          <a:p>
            <a:r>
              <a:rPr lang="en-US" sz="1200" dirty="0"/>
              <a:t>Best practices to share:</a:t>
            </a:r>
          </a:p>
          <a:p>
            <a:r>
              <a:rPr lang="en-US" sz="1200" dirty="0"/>
              <a:t>  - Start complex tasks in Plan Mode — like asking a developer to write a spec before coding</a:t>
            </a:r>
          </a:p>
          <a:p>
            <a:r>
              <a:rPr lang="en-US" sz="1200" dirty="0"/>
              <a:t>  - Break large goals into clear sub-goals for better reliability and easier review</a:t>
            </a:r>
          </a:p>
          <a:p>
            <a:r>
              <a:rPr lang="en-US" sz="1200" dirty="0"/>
              <a:t>  - Be specific in your prompt: give filenames, constraints, and context about what you have already tried</a:t>
            </a:r>
          </a:p>
          <a:p>
            <a:r>
              <a:rPr lang="en-US" sz="1200" dirty="0"/>
              <a:t>  - If Claude goes off-track, interrupt early — the loop is interruptible at every step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BUILT-IN TOOLS — What Claude can actually do</a:t>
            </a:r>
          </a:p>
          <a:p>
            <a:endParaRPr lang="en-US" sz="1200" dirty="0"/>
          </a:p>
          <a:p>
            <a:r>
              <a:rPr lang="en-US" sz="1200" dirty="0"/>
              <a:t>Walk through the left panel bullet by bullet:</a:t>
            </a:r>
          </a:p>
          <a:p>
            <a:r>
              <a:rPr lang="en-US" sz="1200" dirty="0"/>
              <a:t>  - File operations (read, write, rename, move) — creates files, overwrites them, reorganises directory structure. Works on any text-based file: code, config, markdown, JSON.</a:t>
            </a:r>
          </a:p>
          <a:p>
            <a:r>
              <a:rPr lang="en-US" sz="1200" dirty="0"/>
              <a:t>  - Search (by filename, content, or regex) — like a smart grep across the whole codebase. Finds where a function is defined, where a variable is used, which files import a module.</a:t>
            </a:r>
          </a:p>
          <a:p>
            <a:r>
              <a:rPr lang="en-US" sz="1200" dirty="0"/>
              <a:t>  - Shell execution (tests, git, build tools) — real terminal commands in your shell. It reads stdout and stderr and can react to errors automatically — if tests fail, it can debug and fix.</a:t>
            </a:r>
          </a:p>
          <a:p>
            <a:r>
              <a:rPr lang="en-US" sz="1200" dirty="0"/>
              <a:t>  - Web access (fetch docs, search error messages) — can look up documentation or search for solutions to errors it encounters mid-task. Does not need you to copy-paste stack overflow answers.</a:t>
            </a:r>
          </a:p>
          <a:p>
            <a:r>
              <a:rPr lang="en-US" sz="1200" dirty="0"/>
              <a:t>  - Code intelligence (type errors, references, definitions) — understands code structure, resolves imports, checks type compatibility, navigates to definitions.</a:t>
            </a:r>
          </a:p>
          <a:p>
            <a:endParaRPr lang="en-US" sz="1200" dirty="0"/>
          </a:p>
          <a:p>
            <a:r>
              <a:rPr lang="en-US" sz="1200" dirty="0"/>
              <a:t>Right callout on the slide: "Not sure which tools are available? Simply ask Claude! It knows exactly what it can do."</a:t>
            </a:r>
          </a:p>
          <a:p>
            <a:r>
              <a:rPr lang="en-US" sz="1200" dirty="0"/>
              <a:t>  - Practical tip: type "what tools do you have access to?" in your session and Claude lists them.</a:t>
            </a:r>
          </a:p>
          <a:p>
            <a:endParaRPr lang="en-US" sz="1200" dirty="0"/>
          </a:p>
          <a:p>
            <a:r>
              <a:rPr lang="en-US" sz="1200" dirty="0"/>
              <a:t>Pro tip for the audience — permission modes control what Claude can do autonomously:</a:t>
            </a:r>
          </a:p>
          <a:p>
            <a:r>
              <a:rPr lang="en-US" sz="1200" dirty="0"/>
              <a:t>  - Supervised (default) — Claude asks before most actions: you confirm before it writes files or runs commands</a:t>
            </a:r>
          </a:p>
          <a:p>
            <a:r>
              <a:rPr lang="en-US" sz="1200" dirty="0"/>
              <a:t>  - Plan mode — read-only; Claude plans and asks for approval before any execution begins</a:t>
            </a:r>
          </a:p>
          <a:p>
            <a:r>
              <a:rPr lang="en-US" sz="1200" dirty="0"/>
              <a:t>  - Auto mode — a background classifier decides what is safe to run without asking (advanced users; good for CI/CD)</a:t>
            </a:r>
          </a:p>
          <a:p>
            <a:r>
              <a:rPr lang="en-US" sz="1200" dirty="0"/>
              <a:t>  Cycle through modes with Shift+Tab in the CLI, or use the mode selector in VS Code or Desktop.</a:t>
            </a:r>
          </a:p>
          <a:p>
            <a:endParaRPr lang="en-US" sz="1200" dirty="0"/>
          </a:p>
          <a:p>
            <a:r>
              <a:rPr lang="en-US" sz="1200" dirty="0"/>
              <a:t>Full reference at: code.claude.com/docs/en/tools-reference.md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CHAPTER 3 INTRO — Memory and Settings</a:t>
            </a:r>
          </a:p>
          <a:p>
            <a:endParaRPr lang="en-US" sz="1200" dirty="0"/>
          </a:p>
          <a:p>
            <a:r>
              <a:rPr lang="en-US" sz="1200" dirty="0"/>
              <a:t>Transition slide — use as a pacing beat between the execution model and the configuration chapter.</a:t>
            </a:r>
          </a:p>
          <a:p>
            <a:endParaRPr lang="en-US" sz="1200" dirty="0"/>
          </a:p>
          <a:p>
            <a:r>
              <a:rPr lang="en-US" sz="1200" dirty="0"/>
              <a:t>Say: "We have covered what Claude Code can do and exactly how it executes. Now let us talk about memory — how Claude remembers your project and your preferences across sessions — and settings, which let you configure its behaviour precisely for your workflow."</a:t>
            </a:r>
          </a:p>
          <a:p>
            <a:endParaRPr lang="en-US" sz="1200" dirty="0"/>
          </a:p>
          <a:p>
            <a:r>
              <a:rPr lang="en-US" sz="1200" dirty="0"/>
              <a:t>This chapter covers:</a:t>
            </a:r>
          </a:p>
          <a:p>
            <a:r>
              <a:rPr lang="en-US" sz="1200" dirty="0"/>
              <a:t>  - Context window — Claude's session memory, what it is, how to manage it strategically</a:t>
            </a:r>
          </a:p>
          <a:p>
            <a:r>
              <a:rPr lang="en-US" sz="1200" dirty="0"/>
              <a:t>  - CLAUDE.md — how to give Claude persistent, structured knowledge about your project</a:t>
            </a:r>
          </a:p>
          <a:p>
            <a:r>
              <a:rPr lang="en-US" sz="1200" dirty="0"/>
              <a:t>  - Settings — per-project and per-user configuration in settings.json</a:t>
            </a:r>
          </a:p>
          <a:p>
            <a:endParaRPr lang="en-US" sz="1200" dirty="0"/>
          </a:p>
          <a:p>
            <a:r>
              <a:rPr lang="en-US" sz="1200" dirty="0"/>
              <a:t>Framing for the audience: "Most developers think of AI as stateless — you start fresh every time. Claude Code changes that. With CLAUDE.md and settings, you can invest once in teaching Claude your project conventions and have that knowledge persist forever."</a:t>
            </a:r>
          </a:p>
          <a:p>
            <a:endParaRPr lang="en-US" sz="1200" dirty="0"/>
          </a:p>
          <a:p>
            <a:r>
              <a:rPr lang="en-US" sz="1200" dirty="0"/>
              <a:t>Key question to plant in the audience's mind: "What would you put in CLAUDE.md for your project?" Get them thinking about this now — it will make the next slide much more engaging.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CONTEXT WINDOW — Managing Claude's working memory</a:t>
            </a:r>
          </a:p>
          <a:p>
            <a:endParaRPr lang="en-US" sz="1200" dirty="0"/>
          </a:p>
          <a:p>
            <a:r>
              <a:rPr lang="en-US" sz="1200" dirty="0"/>
              <a:t>"Fills up faster than you think" — be upfront about this limitation with your audience.</a:t>
            </a:r>
          </a:p>
          <a:p>
            <a:endParaRPr lang="en-US" sz="1200" dirty="0"/>
          </a:p>
          <a:p>
            <a:r>
              <a:rPr lang="en-US" sz="1200" dirty="0"/>
              <a:t>The context window is Claude's short-term memory for a session. Everything Claude has read — files, conversation history, tool outputs — occupies space. When it fills up, Claude starts losing earlier context, which degrades quality. The larger and more complex the task, the faster it fills.</a:t>
            </a:r>
          </a:p>
          <a:p>
            <a:endParaRPr lang="en-US" sz="1200" dirty="0"/>
          </a:p>
          <a:p>
            <a:r>
              <a:rPr lang="en-US" sz="1200" dirty="0"/>
              <a:t>Tips on the slide — walk through each one:</a:t>
            </a:r>
          </a:p>
          <a:p>
            <a:r>
              <a:rPr lang="en-US" sz="1200" dirty="0"/>
              <a:t>  - Plan Mode first — iterate on the approach before Claude reads files and runs code. A well-formed plan uses far less context than exploratory execution.</a:t>
            </a:r>
          </a:p>
          <a:p>
            <a:r>
              <a:rPr lang="en-US" sz="1200" dirty="0"/>
              <a:t>  - @file mentions — instead of letting Claude search for files (which reads many files), tell it exactly which files to look at. This avoids unnecessary reads and can save 30-50% context.</a:t>
            </a:r>
          </a:p>
          <a:p>
            <a:r>
              <a:rPr lang="en-US" sz="1200" dirty="0"/>
              <a:t>  - Rewind tangents — if a brainstorm or dead-end went nowhere, use checkpointing to rewind. This literally removes those turns from Claude's context. Available in the Desktop app and via /undo.</a:t>
            </a:r>
          </a:p>
          <a:p>
            <a:endParaRPr lang="en-US" sz="1200" dirty="0"/>
          </a:p>
          <a:p>
            <a:r>
              <a:rPr lang="en-US" sz="1200" dirty="0"/>
              <a:t>Key slash commands for context management:</a:t>
            </a:r>
          </a:p>
          <a:p>
            <a:r>
              <a:rPr lang="en-US" sz="1200" dirty="0"/>
              <a:t>  - /context — see current context window usage as a percentage</a:t>
            </a:r>
          </a:p>
          <a:p>
            <a:r>
              <a:rPr lang="en-US" sz="1200" dirty="0"/>
              <a:t>  - /clear — clear conversation history and start fresh (keeps your working files intact)</a:t>
            </a:r>
          </a:p>
          <a:p>
            <a:r>
              <a:rPr lang="en-US" sz="1200" dirty="0"/>
              <a:t>  - /compact — summarise the conversation to free up context while retaining the gist of what was discussed</a:t>
            </a:r>
          </a:p>
          <a:p>
            <a:endParaRPr lang="en-US" sz="1200" dirty="0"/>
          </a:p>
          <a:p>
            <a:r>
              <a:rPr lang="en-US" sz="1200" dirty="0"/>
              <a:t>Advanced tip: the Context Window visualiser at code.claude.com/docs/en/context-window.md is an interactive simulation showing exactly how context fills during a real session — great for understanding where the budget goes.</a:t>
            </a:r>
          </a:p>
          <a:p>
            <a:endParaRPr lang="en-US" sz="1200" dirty="0"/>
          </a:p>
          <a:p>
            <a:r>
              <a:rPr lang="en-US" sz="1200" dirty="0"/>
              <a:t>Practical advice: for large codebases, think of each session as having a "focus area." Start a new session (or use /clear) when switching to a different part of the codebase. CLAUDE.md carries the knowledge between sessions.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HOW CLAUDE REMEMBERS — CLAUDE.md persistent memory</a:t>
            </a:r>
          </a:p>
          <a:p>
            <a:endParaRPr lang="en-US" sz="1200" dirty="0"/>
          </a:p>
          <a:p>
            <a:r>
              <a:rPr lang="en-US" sz="1200" dirty="0"/>
              <a:t>Claude Code uses CLAUDE.md files as persistent memory that survives across sessions. Unlike the context window (which resets), CLAUDE.md is always loaded at startup — every session begins with this knowledge.</a:t>
            </a:r>
          </a:p>
          <a:p>
            <a:endParaRPr lang="en-US" sz="1200" dirty="0"/>
          </a:p>
          <a:p>
            <a:r>
              <a:rPr lang="en-US" sz="1200" dirty="0"/>
              <a:t>Two scopes shown on the slide:</a:t>
            </a:r>
          </a:p>
          <a:p>
            <a:endParaRPr lang="en-US" sz="1200" dirty="0"/>
          </a:p>
          <a:p>
            <a:r>
              <a:rPr lang="en-US" sz="1200" dirty="0"/>
              <a:t>  Project-level: ./.claude/CLAUDE.md</a:t>
            </a:r>
          </a:p>
          <a:p>
            <a:r>
              <a:rPr lang="en-US" sz="1200" dirty="0"/>
              <a:t>    This applies to this specific project only.</a:t>
            </a:r>
          </a:p>
          <a:p>
            <a:r>
              <a:rPr lang="en-US" sz="1200" dirty="0"/>
              <a:t>    Put here: coding standards, architecture decisions, naming conventions, test patterns, file structure overview, deployment notes, CI/CD setup. Anything the whole team should share.</a:t>
            </a:r>
          </a:p>
          <a:p>
            <a:r>
              <a:rPr lang="en-US" sz="1200" dirty="0"/>
              <a:t>    This file should be committed to version control — it is part of the project.</a:t>
            </a:r>
          </a:p>
          <a:p>
            <a:endParaRPr lang="en-US" sz="1200" dirty="0"/>
          </a:p>
          <a:p>
            <a:r>
              <a:rPr lang="en-US" sz="1200" dirty="0"/>
              <a:t>  User-level: ~/.claude/CLAUDE.md</a:t>
            </a:r>
          </a:p>
          <a:p>
            <a:r>
              <a:rPr lang="en-US" sz="1200" dirty="0"/>
              <a:t>    This applies to ALL your projects on this machine.</a:t>
            </a:r>
          </a:p>
          <a:p>
            <a:r>
              <a:rPr lang="en-US" sz="1200" dirty="0"/>
              <a:t>    Put here: your personal preferences, shortcuts, tools you always use, your preferred coding style, things like "I prefer functional components over class components."</a:t>
            </a:r>
          </a:p>
          <a:p>
            <a:endParaRPr lang="en-US" sz="1200" dirty="0"/>
          </a:p>
          <a:p>
            <a:r>
              <a:rPr lang="en-US" sz="1200" dirty="0"/>
              <a:t>Think of CLAUDE.md as the onboarding document you would write for a new developer joining the project — except Claude reads it every single session and never forgets it.</a:t>
            </a:r>
          </a:p>
          <a:p>
            <a:endParaRPr lang="en-US" sz="1200" dirty="0"/>
          </a:p>
          <a:p>
            <a:r>
              <a:rPr lang="en-US" sz="1200" dirty="0"/>
              <a:t>Examples of what to put in a project CLAUDE.md:</a:t>
            </a:r>
          </a:p>
          <a:p>
            <a:r>
              <a:rPr lang="en-US" sz="1200" dirty="0"/>
              <a:t>  - "This project uses ESLint and Prettier — always run eslint --fix after editing JS files"</a:t>
            </a:r>
          </a:p>
          <a:p>
            <a:r>
              <a:rPr lang="en-US" sz="1200" dirty="0"/>
              <a:t>  - "Database models are in src/models/ — never write raw SQL, always use the ORM"</a:t>
            </a:r>
          </a:p>
          <a:p>
            <a:r>
              <a:rPr lang="en-US" sz="1200" dirty="0"/>
              <a:t>  - "Run npm test before committing — all tests must be green before opening a PR"</a:t>
            </a:r>
          </a:p>
          <a:p>
            <a:r>
              <a:rPr lang="en-US" sz="1200" dirty="0"/>
              <a:t>  - "The API uses REST with versioning at /api/v1/ — never change existing endpoint contracts"</a:t>
            </a:r>
          </a:p>
          <a:p>
            <a:endParaRPr lang="en-US" sz="1200" dirty="0"/>
          </a:p>
          <a:p>
            <a:r>
              <a:rPr lang="en-US" sz="1200" dirty="0"/>
              <a:t>Auto memory feature: Claude can accumulate learnings automatically. When it discovers something important mid-session (like "this file pattern should not be modified"), it can write to CLAUDE.md with your permission. Toggle this in settings.</a:t>
            </a:r>
          </a:p>
          <a:p>
            <a:endParaRPr lang="en-US" sz="1200" dirty="0"/>
          </a:p>
          <a:p>
            <a:r>
              <a:rPr lang="en-US" sz="1200" dirty="0"/>
              <a:t>Practical tip: start a new project by asking Claude to generate a CLAUDE.md for you after it has explored the codebase — it will produce a comprehensive summary you can then refine.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DA4DE-47A1-48F1-CCC7-8BCBEF738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73772-1773-17A3-12CB-346B902C962D}"/>
              </a:ext>
            </a:extLst>
          </p:cNvPr>
          <p:cNvSpPr>
            <a:spLocks noGrp="1" noRot="1" noChangeAspect="1"/>
          </p:cNvSpPr>
          <p:nvPr>
            <p:ph type="sldImg"/>
          </p:nvPr>
        </p:nvSpPr>
        <p:spPr/>
        <p:txBody>
          <a:bodyPr/>
          <a:lstStyle/>
          <a:p>
            <a:endParaRPr lang="en-IT"/>
          </a:p>
        </p:txBody>
      </p:sp>
      <p:sp>
        <p:nvSpPr>
          <p:cNvPr id="3" name="Notes Placeholder 2">
            <a:extLst>
              <a:ext uri="{FF2B5EF4-FFF2-40B4-BE49-F238E27FC236}">
                <a16:creationId xmlns:a16="http://schemas.microsoft.com/office/drawing/2014/main" id="{9796CDD9-AC28-21EF-51E2-EAF6A21A914D}"/>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3D591B45-1462-EE3F-7F4E-FBBDA633A346}"/>
              </a:ext>
            </a:extLst>
          </p:cNvPr>
          <p:cNvSpPr>
            <a:spLocks noGrp="1"/>
          </p:cNvSpPr>
          <p:nvPr>
            <p:ph type="sldNum" sz="quarter" idx="5"/>
          </p:nvPr>
        </p:nvSpPr>
        <p:spPr/>
        <p:txBody>
          <a:bodyPr/>
          <a:lstStyle/>
          <a:p>
            <a:fld id="{CAC7627C-DB68-9A4D-8B30-F0E92B6BDF8F}" type="slidenum">
              <a:rPr lang="it-IT" smtClean="0"/>
              <a:t>12</a:t>
            </a:fld>
            <a:endParaRPr lang="it-IT"/>
          </a:p>
        </p:txBody>
      </p:sp>
    </p:spTree>
    <p:extLst>
      <p:ext uri="{BB962C8B-B14F-4D97-AF65-F5344CB8AC3E}">
        <p14:creationId xmlns:p14="http://schemas.microsoft.com/office/powerpoint/2010/main" val="561750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CHAPTER 4 INTRO — Extending Claude Code</a:t>
            </a:r>
          </a:p>
          <a:p>
            <a:endParaRPr lang="en-US" sz="1200" dirty="0"/>
          </a:p>
          <a:p>
            <a:r>
              <a:rPr lang="en-US" sz="1200" dirty="0"/>
              <a:t>Transition slide — use as a pacing beat before the extension features deep-dive.</a:t>
            </a:r>
          </a:p>
          <a:p>
            <a:endParaRPr lang="en-US" sz="1200" dirty="0"/>
          </a:p>
          <a:p>
            <a:r>
              <a:rPr lang="en-US" sz="1200" dirty="0"/>
              <a:t>Say: "This is where Claude Code goes from a powerful personal coding tool to a scalable, team-wide AI coding platform. There are four extension mechanisms, and each one solves a different class of problem."</a:t>
            </a:r>
          </a:p>
          <a:p>
            <a:endParaRPr lang="en-US" sz="1200" dirty="0"/>
          </a:p>
          <a:p>
            <a:r>
              <a:rPr lang="en-US" sz="1200" dirty="0"/>
              <a:t>Preview the four features for the audience:</a:t>
            </a:r>
          </a:p>
          <a:p>
            <a:r>
              <a:rPr lang="en-US" sz="1200" dirty="0"/>
              <a:t>  - Skills — reusable workflows and knowledge packages that you define once and use forever</a:t>
            </a:r>
          </a:p>
          <a:p>
            <a:r>
              <a:rPr lang="en-US" sz="1200" dirty="0"/>
              <a:t>  - MCP (Model Context Protocol) — connect Claude to external tools, data sources, and services</a:t>
            </a:r>
          </a:p>
          <a:p>
            <a:r>
              <a:rPr lang="en-US" sz="1200" dirty="0"/>
              <a:t>  - Subagents — spawn specialised AI instances for task-specific work, with isolated context</a:t>
            </a:r>
          </a:p>
          <a:p>
            <a:r>
              <a:rPr lang="en-US" sz="1200" dirty="0"/>
              <a:t>  - Hooks — automate actions on specific lifecycle events within the agentic loop</a:t>
            </a:r>
          </a:p>
          <a:p>
            <a:endParaRPr lang="en-US" sz="1200" dirty="0"/>
          </a:p>
          <a:p>
            <a:r>
              <a:rPr lang="en-US" sz="1200" dirty="0"/>
              <a:t>Framing: "Together, these four mechanisms let you build a customised AI coding infrastructure that fits exactly how your team works — not a generic assistant, but one that knows your stack, your conventions, your tools, and your processes."</a:t>
            </a:r>
          </a:p>
          <a:p>
            <a:endParaRPr lang="en-US" sz="1200" dirty="0"/>
          </a:p>
          <a:p>
            <a:r>
              <a:rPr lang="en-US" sz="1200" dirty="0"/>
              <a:t>If time is limited: prioritise Skills (most immediately useful for any team) and MCP (biggest leverage with existing tools). Subagents and Hooks are more advanced and can be covered more briefly or as a follow-up.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SKILLS — Reusable workflows and knowledge</a:t>
            </a:r>
          </a:p>
          <a:p>
            <a:endParaRPr lang="en-US" sz="1200" dirty="0"/>
          </a:p>
          <a:p>
            <a:r>
              <a:rPr lang="en-US" sz="1200" dirty="0"/>
              <a:t>Skills are the primary way to extend Claude's capabilities with domain-specific knowledge and repeatable workflows. Stored in .claude/skills/ in your project (or ~/.claude/skills/ for user-level skills).</a:t>
            </a:r>
          </a:p>
          <a:p>
            <a:endParaRPr lang="en-US" sz="1200" dirty="0"/>
          </a:p>
          <a:p>
            <a:r>
              <a:rPr lang="en-US" sz="1200" dirty="0"/>
              <a:t>Two types — walk through each:</a:t>
            </a:r>
          </a:p>
          <a:p>
            <a:endParaRPr lang="en-US" sz="1200" dirty="0"/>
          </a:p>
          <a:p>
            <a:r>
              <a:rPr lang="en-US" sz="1200" dirty="0"/>
              <a:t>  1. Reference skills — knowledge Claude uses throughout the session without being explicitly called.</a:t>
            </a:r>
          </a:p>
          <a:p>
            <a:r>
              <a:rPr lang="en-US" sz="1200" dirty="0"/>
              <a:t>     Think of them as context that Claude always has in mind.</a:t>
            </a:r>
          </a:p>
          <a:p>
            <a:r>
              <a:rPr lang="en-US" sz="1200" dirty="0"/>
              <a:t>     Examples: your API style guide, database schema, architecture decision records, naming conventions.</a:t>
            </a:r>
          </a:p>
          <a:p>
            <a:r>
              <a:rPr lang="en-US" sz="1200" dirty="0"/>
              <a:t>     The front matter (name and description) is always loaded. Claude reads it at session start and uses it whenever relevant.</a:t>
            </a:r>
          </a:p>
          <a:p>
            <a:endParaRPr lang="en-US" sz="1200" dirty="0"/>
          </a:p>
          <a:p>
            <a:r>
              <a:rPr lang="en-US" sz="1200" dirty="0"/>
              <a:t>  2. Action skills (invoke with /skill-name) — trigger a specific multi-step workflow on demand.</a:t>
            </a:r>
          </a:p>
          <a:p>
            <a:r>
              <a:rPr lang="en-US" sz="1200" dirty="0"/>
              <a:t>     Think of them as custom commands your team defines.</a:t>
            </a:r>
          </a:p>
          <a:p>
            <a:r>
              <a:rPr lang="en-US" sz="1200" dirty="0"/>
              <a:t>     Examples: /deploy, /security-check, /write-release-notes, /generate-migration</a:t>
            </a:r>
          </a:p>
          <a:p>
            <a:r>
              <a:rPr lang="en-US" sz="1200" dirty="0"/>
              <a:t>     The body (full instructions and assets) is only loaded when the skill is invoked — keeps context lean.</a:t>
            </a:r>
          </a:p>
          <a:p>
            <a:endParaRPr lang="en-US" sz="1200" dirty="0"/>
          </a:p>
          <a:p>
            <a:r>
              <a:rPr lang="en-US" sz="1200" dirty="0"/>
              <a:t>SKILL.md structure — reference the right panel:</a:t>
            </a:r>
          </a:p>
          <a:p>
            <a:r>
              <a:rPr lang="en-US" sz="1200" dirty="0"/>
              <a:t>  - Front Matter (green) — name and description. Always in context. This is what lets Claude decide whether to invoke the skill automatically, or what runs when you type the /command.</a:t>
            </a:r>
          </a:p>
          <a:p>
            <a:r>
              <a:rPr lang="en-US" sz="1200" dirty="0"/>
              <a:t>  - Body (blue) — full instructions, step-by-step workflow, and any bundled assets. Only loaded on invocation. Keeps context lean by default.</a:t>
            </a:r>
          </a:p>
          <a:p>
            <a:endParaRPr lang="en-US" sz="1200" dirty="0"/>
          </a:p>
          <a:p>
            <a:r>
              <a:rPr lang="en-US" sz="1200" dirty="0"/>
              <a:t>Practical advice for the audience:</a:t>
            </a:r>
          </a:p>
          <a:p>
            <a:r>
              <a:rPr lang="en-US" sz="1200" dirty="0"/>
              <a:t>  - Start with one skill that encodes your most painful repetitive task (deployment, release notes, code review checklist)</a:t>
            </a:r>
          </a:p>
          <a:p>
            <a:r>
              <a:rPr lang="en-US" sz="1200" dirty="0"/>
              <a:t>  - Reference skills are excellent for onboarding: new team members get a Claude that already knows the project conventions from day one</a:t>
            </a:r>
          </a:p>
          <a:p>
            <a:r>
              <a:rPr lang="en-US" sz="1200" dirty="0"/>
              <a:t>  - Skills can be shared across the team via version control — they are just markdown files in .claude/skills/</a:t>
            </a:r>
          </a:p>
          <a:p>
            <a:r>
              <a:rPr lang="en-US" sz="1200" dirty="0"/>
              <a:t>  - You can create skills from skills: ask Claude to "create a skill for our deployment process" and it will write the SKILL.md for you</a:t>
            </a:r>
          </a:p>
          <a:p>
            <a:endParaRPr lang="en-US" sz="1200" dirty="0"/>
          </a:p>
          <a:p>
            <a:r>
              <a:rPr lang="en-US" sz="1200" dirty="0"/>
              <a:t>Reference: code.claude.com/docs/en/skills.md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MCP — Model Context Protocol</a:t>
            </a:r>
          </a:p>
          <a:p>
            <a:endParaRPr lang="en-US" sz="1200" dirty="0"/>
          </a:p>
          <a:p>
            <a:r>
              <a:rPr lang="en-US" sz="1200" dirty="0"/>
              <a:t>MCP is the universal standard for connecting Claude to external tools and data sources. Think of it as a plugin system for AI agents — the same idea as browser extensions but for AI.</a:t>
            </a:r>
          </a:p>
          <a:p>
            <a:endParaRPr lang="en-US" sz="1200" dirty="0"/>
          </a:p>
          <a:p>
            <a:r>
              <a:rPr lang="en-US" sz="1200" dirty="0"/>
              <a:t>What MCP enables (left panel):</a:t>
            </a:r>
          </a:p>
          <a:p>
            <a:r>
              <a:rPr lang="en-US" sz="1200" dirty="0"/>
              <a:t>  "Universal standard to connect Claude to any external tool or data source."</a:t>
            </a:r>
          </a:p>
          <a:p>
            <a:r>
              <a:rPr lang="en-US" sz="1200" dirty="0"/>
              <a:t>  - Claude gains new tools it can call to interact with any connected service</a:t>
            </a:r>
          </a:p>
          <a:p>
            <a:r>
              <a:rPr lang="en-US" sz="1200" dirty="0"/>
              <a:t>  - Pre-built MCP servers exist for hundreds of popular services</a:t>
            </a:r>
          </a:p>
          <a:p>
            <a:r>
              <a:rPr lang="en-US" sz="1200" dirty="0"/>
              <a:t>  - You can also build custom MCP servers for your own internal APIs and data sources</a:t>
            </a:r>
          </a:p>
          <a:p>
            <a:endParaRPr lang="en-US" sz="1200" dirty="0"/>
          </a:p>
          <a:p>
            <a:r>
              <a:rPr lang="en-US" sz="1200" dirty="0"/>
              <a:t>Right panel shows the example integrations on the slide:</a:t>
            </a:r>
          </a:p>
          <a:p>
            <a:r>
              <a:rPr lang="en-US" sz="1200" dirty="0"/>
              <a:t>  - GitHub — create PRs, review issues, comment on code, trigger workflows</a:t>
            </a:r>
          </a:p>
          <a:p>
            <a:r>
              <a:rPr lang="en-US" sz="1200" dirty="0"/>
              <a:t>  - Slack — post messages, read channels, interact with your team</a:t>
            </a:r>
          </a:p>
          <a:p>
            <a:r>
              <a:rPr lang="en-US" sz="1200" dirty="0"/>
              <a:t>  - Google Drive — read and write documents, access shared files</a:t>
            </a:r>
          </a:p>
          <a:p>
            <a:r>
              <a:rPr lang="en-US" sz="1200" dirty="0"/>
              <a:t>  - Notion — read and write pages, query databases</a:t>
            </a:r>
          </a:p>
          <a:p>
            <a:r>
              <a:rPr lang="en-US" sz="1200" dirty="0"/>
              <a:t>  - Your APIs — connect to any internal service with a custom MCP server</a:t>
            </a:r>
          </a:p>
          <a:p>
            <a:endParaRPr lang="en-US" sz="1200" dirty="0"/>
          </a:p>
          <a:p>
            <a:r>
              <a:rPr lang="en-US" sz="1200" dirty="0"/>
              <a:t>How to install an MCP server:</a:t>
            </a:r>
          </a:p>
          <a:p>
            <a:r>
              <a:rPr lang="en-US" sz="1200" dirty="0"/>
              <a:t>  - Use the /mcp command inside Claude Code to add a server interactively</a:t>
            </a:r>
          </a:p>
          <a:p>
            <a:r>
              <a:rPr lang="en-US" sz="1200" dirty="0"/>
              <a:t>  - Or configure in .claude/settings.json under the "mcpServers" key</a:t>
            </a:r>
          </a:p>
          <a:p>
            <a:r>
              <a:rPr lang="en-US" sz="1200" dirty="0"/>
              <a:t>  - Once installed, Claude gains new named tools it can call when needed</a:t>
            </a:r>
          </a:p>
          <a:p>
            <a:endParaRPr lang="en-US" sz="1200" dirty="0"/>
          </a:p>
          <a:p>
            <a:r>
              <a:rPr lang="en-US" sz="1200" dirty="0"/>
              <a:t>Real-world use cases to share with the audience:</a:t>
            </a:r>
          </a:p>
          <a:p>
            <a:r>
              <a:rPr lang="en-US" sz="1200" dirty="0"/>
              <a:t>  - "Review the last 5 failing PRs and summarise the common issues" — via GitHub MCP</a:t>
            </a:r>
          </a:p>
          <a:p>
            <a:r>
              <a:rPr lang="en-US" sz="1200" dirty="0"/>
              <a:t>  - "Post the deployment summary to the deployments channel in Slack" — via Slack MCP</a:t>
            </a:r>
          </a:p>
          <a:p>
            <a:r>
              <a:rPr lang="en-US" sz="1200" dirty="0"/>
              <a:t>  - "Check our internal API docs and make sure this new endpoint follows our spec" — via custom MCP</a:t>
            </a:r>
          </a:p>
          <a:p>
            <a:r>
              <a:rPr lang="en-US" sz="1200" dirty="0"/>
              <a:t>  - "Query the production database schema and check our ORM models are up to date" — via database MCP</a:t>
            </a:r>
          </a:p>
          <a:p>
            <a:endParaRPr lang="en-US" sz="1200" dirty="0"/>
          </a:p>
          <a:p>
            <a:r>
              <a:rPr lang="en-US" sz="1200" dirty="0"/>
              <a:t>Discovery: find pre-built MCP servers at plugin marketplaces. Reference: code.claude.com/docs/en/mcp.md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SUBAGENTS — Specialised AI instances</a:t>
            </a:r>
          </a:p>
          <a:p>
            <a:endParaRPr lang="en-US" sz="1200" dirty="0"/>
          </a:p>
          <a:p>
            <a:r>
              <a:rPr lang="en-US" sz="1200" dirty="0"/>
              <a:t>Subagents are separate Claude Code sessions that your main session can spawn to handle specific sub-tasks in isolation. Think of them as delegating work to specialist colleagues who report back with a summary.</a:t>
            </a:r>
          </a:p>
          <a:p>
            <a:endParaRPr lang="en-US" sz="1200" dirty="0"/>
          </a:p>
          <a:p>
            <a:r>
              <a:rPr lang="en-US" sz="1200" dirty="0"/>
              <a:t>Why isolation matters — walk through each bullet:</a:t>
            </a:r>
          </a:p>
          <a:p>
            <a:endParaRPr lang="en-US" sz="1200" dirty="0"/>
          </a:p>
          <a:p>
            <a:r>
              <a:rPr lang="en-US" sz="1200" dirty="0"/>
              <a:t>  "Subagent work does not fill your main context window"</a:t>
            </a:r>
          </a:p>
          <a:p>
            <a:r>
              <a:rPr lang="en-US" sz="1200" dirty="0"/>
              <a:t>  The subagent has its OWN context window. It can read thousands of lines of code and explore many files without eating into your main session's budget. Your main session only receives the final summary or result — a small, focused output.</a:t>
            </a:r>
          </a:p>
          <a:p>
            <a:endParaRPr lang="en-US" sz="1200" dirty="0"/>
          </a:p>
          <a:p>
            <a:r>
              <a:rPr lang="en-US" sz="1200" dirty="0"/>
              <a:t>  "Run security, performance, test review in parallel"</a:t>
            </a:r>
          </a:p>
          <a:p>
            <a:r>
              <a:rPr lang="en-US" sz="1200" dirty="0"/>
              <a:t>  Multiple subagents can run simultaneously. While one reviews security vulnerabilities, another profiles performance bottlenecks, a third runs the full test suite. This compresses what would take hours into minutes.</a:t>
            </a:r>
          </a:p>
          <a:p>
            <a:endParaRPr lang="en-US" sz="1200" dirty="0"/>
          </a:p>
          <a:p>
            <a:r>
              <a:rPr lang="en-US" sz="1200" dirty="0"/>
              <a:t>  "Each subagent can have its own skills preloaded"</a:t>
            </a:r>
          </a:p>
          <a:p>
            <a:r>
              <a:rPr lang="en-US" sz="1200" dirty="0"/>
              <a:t>  You can configure subagents to specialise with different skill sets. A security subagent can have security-focused skills preloaded. A database subagent can have schema knowledge preloaded. Each expert knows its domain deeply.</a:t>
            </a:r>
          </a:p>
          <a:p>
            <a:endParaRPr lang="en-US" sz="1200" dirty="0"/>
          </a:p>
          <a:p>
            <a:r>
              <a:rPr lang="en-US" sz="1200" dirty="0"/>
              <a:t>  "Great for tasks that read many files"</a:t>
            </a:r>
          </a:p>
          <a:p>
            <a:r>
              <a:rPr lang="en-US" sz="1200" dirty="0"/>
              <a:t>  Code reviews, codebase audits, documentation generation, dependency analysis — any task that requires reading a large portion of the repo benefits enormously from subagent isolation.</a:t>
            </a:r>
          </a:p>
          <a:p>
            <a:endParaRPr lang="en-US" sz="1200" dirty="0"/>
          </a:p>
          <a:p>
            <a:r>
              <a:rPr lang="en-US" sz="1200" dirty="0"/>
              <a:t>How to use subagents in practice:</a:t>
            </a:r>
          </a:p>
          <a:p>
            <a:r>
              <a:rPr lang="en-US" sz="1200" dirty="0"/>
              <a:t>  - In your session: "Spawn a subagent to review all files in src/auth/ for security issues and report back with a prioritised list"</a:t>
            </a:r>
          </a:p>
          <a:p>
            <a:r>
              <a:rPr lang="en-US" sz="1200" dirty="0"/>
              <a:t>  - Claude handles the delegation, execution in the isolated context, and result aggregation</a:t>
            </a:r>
          </a:p>
          <a:p>
            <a:r>
              <a:rPr lang="en-US" sz="1200" dirty="0"/>
              <a:t>  - You can run multiple subagents simultaneously with a single instruction</a:t>
            </a:r>
          </a:p>
          <a:p>
            <a:endParaRPr lang="en-US" sz="1200" dirty="0"/>
          </a:p>
          <a:p>
            <a:r>
              <a:rPr lang="en-US" sz="1200" dirty="0"/>
              <a:t>Definition in .claude directory:</a:t>
            </a:r>
          </a:p>
          <a:p>
            <a:r>
              <a:rPr lang="en-US" sz="1200" dirty="0"/>
              <a:t>  Create a subagent definition file in .claude/subagents/ with the subagent's name, system prompt, and preloaded skills. Reference: code.claude.com/docs/en/sub-agents.md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HOOKS — Automate actions on lifecycle events</a:t>
            </a:r>
          </a:p>
          <a:p>
            <a:endParaRPr lang="en-US" sz="1200" dirty="0"/>
          </a:p>
          <a:p>
            <a:r>
              <a:rPr lang="en-US" sz="1200" dirty="0"/>
              <a:t>Hooks let you run shell scripts automatically at specific points in Claude's workflow. They run on YOUR machine — giving you full control over Claude's actions before and after each tool call.</a:t>
            </a:r>
          </a:p>
          <a:p>
            <a:endParaRPr lang="en-US" sz="1200" dirty="0"/>
          </a:p>
          <a:p>
            <a:r>
              <a:rPr lang="en-US" sz="1200" dirty="0"/>
              <a:t>The flow shown on the slide (left to right):</a:t>
            </a:r>
          </a:p>
          <a:p>
            <a:r>
              <a:rPr lang="en-US" sz="1200" dirty="0"/>
              <a:t>  1. Claude Calls Tool — Claude decides it wants to run a tool (read a file, write code, run a bash command, do a web search)</a:t>
            </a:r>
          </a:p>
          <a:p>
            <a:r>
              <a:rPr lang="en-US" sz="1200" dirty="0"/>
              <a:t>  2. Pre-tool Hook fires — your shell script runs BEFORE the tool executes. You can inspect what Claude is about to do and BLOCK it if it violates a rule.</a:t>
            </a:r>
          </a:p>
          <a:p>
            <a:r>
              <a:rPr lang="en-US" sz="1200" dirty="0"/>
              <a:t>  3. Tool Execution — the actual tool runs: read, write, bash, web search, and more</a:t>
            </a:r>
          </a:p>
          <a:p>
            <a:r>
              <a:rPr lang="en-US" sz="1200" dirty="0"/>
              <a:t>  4. Post-tool Hook fires — your shell script runs AFTER the tool completes. You can react to what just happened.</a:t>
            </a:r>
          </a:p>
          <a:p>
            <a:r>
              <a:rPr lang="en-US" sz="1200" dirty="0"/>
              <a:t>  5. Result to Context — the hook output is passed back into Claude's context so it can react and adapt.</a:t>
            </a:r>
          </a:p>
          <a:p>
            <a:endParaRPr lang="en-US" sz="1200" dirty="0"/>
          </a:p>
          <a:p>
            <a:r>
              <a:rPr lang="en-US" sz="1200" dirty="0"/>
              <a:t>Real examples for pre-tool hooks (block or protect):</a:t>
            </a:r>
          </a:p>
          <a:p>
            <a:r>
              <a:rPr lang="en-US" sz="1200" dirty="0"/>
              <a:t>  - Block any bash command containing "rm -rf" — safety guardrail against accidental deletion</a:t>
            </a:r>
          </a:p>
          <a:p>
            <a:r>
              <a:rPr lang="en-US" sz="1200" dirty="0"/>
              <a:t>  - Validate that new file names follow your team's naming convention before Claude creates them</a:t>
            </a:r>
          </a:p>
          <a:p>
            <a:r>
              <a:rPr lang="en-US" sz="1200" dirty="0"/>
              <a:t>  - Prevent Claude from writing to protected directories (e.g., production config files)</a:t>
            </a:r>
          </a:p>
          <a:p>
            <a:r>
              <a:rPr lang="en-US" sz="1200" dirty="0"/>
              <a:t>  - Gate expensive operations: require approval before Claude runs database migrations</a:t>
            </a:r>
          </a:p>
          <a:p>
            <a:endParaRPr lang="en-US" sz="1200" dirty="0"/>
          </a:p>
          <a:p>
            <a:r>
              <a:rPr lang="en-US" sz="1200" dirty="0"/>
              <a:t>Real examples for post-tool hooks (auto-lint or log actions):</a:t>
            </a:r>
          </a:p>
          <a:p>
            <a:r>
              <a:rPr lang="en-US" sz="1200" dirty="0"/>
              <a:t>  - Automatically run eslint --fix on any .js or .ts file that Claude just edited</a:t>
            </a:r>
          </a:p>
          <a:p>
            <a:r>
              <a:rPr lang="en-US" sz="1200" dirty="0"/>
              <a:t>  - Append an entry to audit.log every time Claude modifies a file in src/payments/</a:t>
            </a:r>
          </a:p>
          <a:p>
            <a:r>
              <a:rPr lang="en-US" sz="1200" dirty="0"/>
              <a:t>  - Send a Slack notification when Claude completes a deployment task</a:t>
            </a:r>
          </a:p>
          <a:p>
            <a:r>
              <a:rPr lang="en-US" sz="1200" dirty="0"/>
              <a:t>  - Run your test suite after Claude writes new code, and feed results back to Claude</a:t>
            </a:r>
          </a:p>
          <a:p>
            <a:endParaRPr lang="en-US" sz="1200" dirty="0"/>
          </a:p>
          <a:p>
            <a:r>
              <a:rPr lang="en-US" sz="1200" dirty="0"/>
              <a:t>Scopes (bottom of the slide):</a:t>
            </a:r>
          </a:p>
          <a:p>
            <a:r>
              <a:rPr lang="en-US" sz="1200" dirty="0"/>
              <a:t>  - Project-level: .claude/settings.json — hooks apply only to this specific project</a:t>
            </a:r>
          </a:p>
          <a:p>
            <a:r>
              <a:rPr lang="en-US" sz="1200" dirty="0"/>
              <a:t>  - User-level: ~/.claude/settings.json — hooks apply across all your projects globally</a:t>
            </a:r>
          </a:p>
          <a:p>
            <a:endParaRPr lang="en-US" sz="1200" dirty="0"/>
          </a:p>
          <a:p>
            <a:r>
              <a:rPr lang="en-US" sz="1200" dirty="0"/>
              <a:t>Configuration: hooks are defined under a "hooks" key in settings.json. Each hook specifies the event type (PreToolUse or PostToolUse), a tool name matcher, and the shell command to execute.</a:t>
            </a:r>
          </a:p>
          <a:p>
            <a:endParaRPr lang="en-US" sz="1200" dirty="0"/>
          </a:p>
          <a:p>
            <a:r>
              <a:rPr lang="en-US" sz="1200" dirty="0"/>
              <a:t>Reference: code.claude.com/docs/en/hooks-guide.md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AGENT TEAMS — Coordinate multiple Claude instances in parallel</a:t>
            </a:r>
          </a:p>
          <a:p>
            <a:endParaRPr lang="en-US" sz="1200" dirty="0"/>
          </a:p>
          <a:p>
            <a:r>
              <a:rPr lang="en-US" sz="1200" dirty="0"/>
              <a:t>Agent Teams is a feature that lets you run a coordinated team of Claude Code sessions. Each session has its own context window and works in parallel on a shared task. Think of it as moving from a solo developer to an engineering squad.</a:t>
            </a:r>
          </a:p>
          <a:p>
            <a:endParaRPr lang="en-US" sz="1200" dirty="0"/>
          </a:p>
          <a:p>
            <a:r>
              <a:rPr lang="en-US" sz="1200" dirty="0"/>
              <a:t>Why teams beat single agents — walk through each bullet:</a:t>
            </a:r>
          </a:p>
          <a:p>
            <a:endParaRPr lang="en-US" sz="1200" dirty="0"/>
          </a:p>
          <a:p>
            <a:r>
              <a:rPr lang="en-US" sz="1200" dirty="0"/>
              <a:t>  "Each teammate has its own context window"</a:t>
            </a:r>
          </a:p>
          <a:p>
            <a:r>
              <a:rPr lang="en-US" sz="1200" dirty="0"/>
              <a:t>  Parallel capacity, not sequential bottlenecks. A 5-member team has 5x the context headroom. Each agent can deeply focus on its domain without crowding out others.</a:t>
            </a:r>
          </a:p>
          <a:p>
            <a:endParaRPr lang="en-US" sz="1200" dirty="0"/>
          </a:p>
          <a:p>
            <a:r>
              <a:rPr lang="en-US" sz="1200" dirty="0"/>
              <a:t>  "Teammates message each other directly"</a:t>
            </a:r>
          </a:p>
          <a:p>
            <a:r>
              <a:rPr lang="en-US" sz="1200" dirty="0"/>
              <a:t>  Agents communicate through the team messaging protocol — passing results, asking questions, sharing findings — without needing to funnel everything through you.</a:t>
            </a:r>
          </a:p>
          <a:p>
            <a:endParaRPr lang="en-US" sz="1200" dirty="0"/>
          </a:p>
          <a:p>
            <a:r>
              <a:rPr lang="en-US" sz="1200" dirty="0"/>
              <a:t>  "Parallel: frontend, backend and tests at once"</a:t>
            </a:r>
          </a:p>
          <a:p>
            <a:r>
              <a:rPr lang="en-US" sz="1200" dirty="0"/>
              <a:t>  The canonical use case: one agent implements the API endpoint, another builds the frontend component that calls it, a third writes and runs the integration tests — all simultaneously. What takes hours in sequence takes minutes in parallel.</a:t>
            </a:r>
          </a:p>
          <a:p>
            <a:endParaRPr lang="en-US" sz="1200" dirty="0"/>
          </a:p>
          <a:p>
            <a:r>
              <a:rPr lang="en-US" sz="1200" dirty="0"/>
              <a:t>  "One lead coordinates — you stay in control"</a:t>
            </a:r>
          </a:p>
          <a:p>
            <a:r>
              <a:rPr lang="en-US" sz="1200" dirty="0"/>
              <a:t>  You direct the lead agent with your overall goal. It breaks the work down and manages the team. You maintain high-level oversight without micromanaging each individual instance.</a:t>
            </a:r>
          </a:p>
          <a:p>
            <a:endParaRPr lang="en-US" sz="1200" dirty="0"/>
          </a:p>
          <a:p>
            <a:r>
              <a:rPr lang="en-US" sz="1200" dirty="0"/>
              <a:t>How to enable (shown at the bottom of the slide):</a:t>
            </a:r>
          </a:p>
          <a:p>
            <a:r>
              <a:rPr lang="en-US" sz="1200" dirty="0"/>
              <a:t>  Add to .claude/settings.json:</a:t>
            </a:r>
          </a:p>
          <a:p>
            <a:r>
              <a:rPr lang="en-US" sz="1200" dirty="0"/>
              <a:t>  CLAUDE_CODE_EXPERIMENTAL_AGENT_TEAMS=1</a:t>
            </a:r>
          </a:p>
          <a:p>
            <a:endParaRPr lang="en-US" sz="1200" dirty="0"/>
          </a:p>
          <a:p>
            <a:r>
              <a:rPr lang="en-US" sz="1200" dirty="0"/>
              <a:t>  Then in your session say: "I need to implement the new user authentication feature. Coordinate a team: one agent for the backend JWT implementation, one for the frontend login form, one for writing tests. Go."</a:t>
            </a:r>
          </a:p>
          <a:p>
            <a:endParaRPr lang="en-US" sz="1200" dirty="0"/>
          </a:p>
          <a:p>
            <a:r>
              <a:rPr lang="en-US" sz="1200" dirty="0"/>
              <a:t>Best use cases:</a:t>
            </a:r>
          </a:p>
          <a:p>
            <a:r>
              <a:rPr lang="en-US" sz="1200" dirty="0"/>
              <a:t>  - Large feature implementations touching multiple layers (API + frontend + tests)</a:t>
            </a:r>
          </a:p>
          <a:p>
            <a:r>
              <a:rPr lang="en-US" sz="1200" dirty="0"/>
              <a:t>  - Codebase-wide refactors across many modules</a:t>
            </a:r>
          </a:p>
          <a:p>
            <a:r>
              <a:rPr lang="en-US" sz="1200" dirty="0"/>
              <a:t>  - Parallel security and performance audits</a:t>
            </a:r>
          </a:p>
          <a:p>
            <a:r>
              <a:rPr lang="en-US" sz="1200" dirty="0"/>
              <a:t>  - Documentation generation across the entire codebase</a:t>
            </a:r>
          </a:p>
          <a:p>
            <a:endParaRPr lang="en-US" sz="1200" dirty="0"/>
          </a:p>
          <a:p>
            <a:r>
              <a:rPr lang="en-US" sz="1200" dirty="0"/>
              <a:t>Note: this is an experimental feature. For best results, be explicit about task boundaries when assigning work to team members. Ideal for teams already comfortable with Claude Code basics.</a:t>
            </a:r>
          </a:p>
          <a:p>
            <a:endParaRPr lang="en-US" sz="1200" dirty="0"/>
          </a:p>
          <a:p>
            <a:r>
              <a:rPr lang="en-US" sz="1200" dirty="0"/>
              <a:t>Reference: code.claude.com/docs/en/agent-teams.md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Move="1" noAdjustHandles="1" noChangeArrowheads="1" noChangeShapeType="1"/>
          </p:cNvSpPr>
          <p:nvPr>
            <p:ph type="sldImg"/>
          </p:nvPr>
        </p:nvSpPr>
        <p:spPr>
          <a:xfrm>
            <a:off x="-457200" y="0"/>
            <a:ext cx="3657600" cy="2057400"/>
          </a:xfrm>
          <a:prstGeom prst="rect">
            <a:avLst/>
          </a:prstGeom>
          <a:noFill/>
          <a:ln>
            <a:solidFill>
              <a:srgbClr val="CCCCCC"/>
            </a:solidFill>
          </a:ln>
        </p:spPr>
        <p:txBody>
          <a:bodyPr/>
          <a:lstStyle/>
          <a:p>
            <a:endParaRPr lang="en-US" dirty="0"/>
          </a:p>
        </p:txBody>
      </p:sp>
      <p:sp>
        <p:nvSpPr>
          <p:cNvPr id="3" name="Notes Placeholder 2"/>
          <p:cNvSpPr>
            <a:spLocks noGrp="1"/>
          </p:cNvSpPr>
          <p:nvPr>
            <p:ph type="body" idx="1"/>
          </p:nvPr>
        </p:nvSpPr>
        <p:spPr>
          <a:xfrm>
            <a:off x="0" y="2133600"/>
            <a:ext cx="9144000" cy="4754400"/>
          </a:xfrm>
          <a:prstGeom prst="rect">
            <a:avLst/>
          </a:prstGeom>
          <a:noFill/>
        </p:spPr>
        <p:txBody>
          <a:bodyPr/>
          <a:lstStyle/>
          <a:p>
            <a:r>
              <a:rPr lang="en-US" sz="1200" dirty="0"/>
              <a:t>LIVE DEMO — Let's see it in action!</a:t>
            </a:r>
          </a:p>
          <a:p>
            <a:endParaRPr lang="en-US" sz="1200" dirty="0"/>
          </a:p>
          <a:p>
            <a:r>
              <a:rPr lang="en-US" sz="1200" dirty="0"/>
              <a:t>This slide kicks off the hands-on demonstration. Transition by saying:</a:t>
            </a:r>
          </a:p>
          <a:p>
            <a:r>
              <a:rPr lang="en-US" sz="1200" dirty="0"/>
              <a:t>"We have covered the theory — what Claude Code can do, how it executes, how it remembers, and how to extend it. Now let us actually use it. I will walk you through a real task so you can see how all these pieces come together."</a:t>
            </a:r>
          </a:p>
          <a:p>
            <a:endParaRPr lang="en-US" sz="1200" dirty="0"/>
          </a:p>
          <a:p>
            <a:r>
              <a:rPr lang="en-US" sz="1200" dirty="0"/>
              <a:t>Suggested demo flow (adapt to your setup and available time):</a:t>
            </a:r>
          </a:p>
          <a:p>
            <a:endParaRPr lang="en-US" sz="1200" dirty="0"/>
          </a:p>
          <a:p>
            <a:r>
              <a:rPr lang="en-US" sz="1200" dirty="0"/>
              <a:t>  1. Launch Claude Code in the CLI or VS Code</a:t>
            </a:r>
          </a:p>
          <a:p>
            <a:r>
              <a:rPr lang="en-US" sz="1200" dirty="0"/>
              <a:t>     - Show the startup: claude (in terminal) or the extension sidebar in VS Code</a:t>
            </a:r>
          </a:p>
          <a:p>
            <a:r>
              <a:rPr lang="en-US" sz="1200" dirty="0"/>
              <a:t>     - Show how Claude reads the project: "What is this project? Give me a 2-minute overview."</a:t>
            </a:r>
          </a:p>
          <a:p>
            <a:endParaRPr lang="en-US" sz="1200" dirty="0"/>
          </a:p>
          <a:p>
            <a:r>
              <a:rPr lang="en-US" sz="1200" dirty="0"/>
              <a:t>  2. Start with Plan Mode for a real task</a:t>
            </a:r>
          </a:p>
          <a:p>
            <a:r>
              <a:rPr lang="en-US" sz="1200" dirty="0"/>
              <a:t>     - Use Shift+Tab to enter Plan Mode before any execution</a:t>
            </a:r>
          </a:p>
          <a:p>
            <a:r>
              <a:rPr lang="en-US" sz="1200" dirty="0"/>
              <a:t>     - Give a meaningful task: "Add input validation to the login endpoint and write tests for it"</a:t>
            </a:r>
          </a:p>
          <a:p>
            <a:r>
              <a:rPr lang="en-US" sz="1200" dirty="0"/>
              <a:t>     - Show Claude's plan — let the audience see how it maps out the approach</a:t>
            </a:r>
          </a:p>
          <a:p>
            <a:r>
              <a:rPr lang="en-US" sz="1200" dirty="0"/>
              <a:t>     - Approve the plan and watch execution</a:t>
            </a:r>
          </a:p>
          <a:p>
            <a:endParaRPr lang="en-US" sz="1200" dirty="0"/>
          </a:p>
          <a:p>
            <a:r>
              <a:rPr lang="en-US" sz="1200" dirty="0"/>
              <a:t>  3. Narrate each step during execution</a:t>
            </a:r>
          </a:p>
          <a:p>
            <a:r>
              <a:rPr lang="en-US" sz="1200" dirty="0"/>
              <a:t>     - Point out which tool is being called at each step</a:t>
            </a:r>
          </a:p>
          <a:p>
            <a:r>
              <a:rPr lang="en-US" sz="1200" dirty="0"/>
              <a:t>     - Show how it reads files, modifies code, runs tests</a:t>
            </a:r>
          </a:p>
          <a:p>
            <a:r>
              <a:rPr lang="en-US" sz="1200" dirty="0"/>
              <a:t>     - If tests fail, show how Claude reads the error and self-corrects</a:t>
            </a:r>
          </a:p>
          <a:p>
            <a:endParaRPr lang="en-US" sz="1200" dirty="0"/>
          </a:p>
          <a:p>
            <a:r>
              <a:rPr lang="en-US" sz="1200" dirty="0"/>
              <a:t>  4. Demonstrate interrupting and steering</a:t>
            </a:r>
          </a:p>
          <a:p>
            <a:r>
              <a:rPr lang="en-US" sz="1200" dirty="0"/>
              <a:t>     - Mid-execution, add a follow-up: "Also make sure the error messages are user-friendly, not technical stack traces"</a:t>
            </a:r>
          </a:p>
          <a:p>
            <a:r>
              <a:rPr lang="en-US" sz="1200" dirty="0"/>
              <a:t>     - Show how Claude incorporates this mid-flight</a:t>
            </a:r>
          </a:p>
          <a:p>
            <a:endParaRPr lang="en-US" sz="1200" dirty="0"/>
          </a:p>
          <a:p>
            <a:r>
              <a:rPr lang="en-US" sz="1200" dirty="0"/>
              <a:t>  5. Show CLAUDE.md in action (optional, if time permits)</a:t>
            </a:r>
          </a:p>
          <a:p>
            <a:r>
              <a:rPr lang="en-US" sz="1200" dirty="0"/>
              <a:t>     - Show a pre-prepared CLAUDE.md with project conventions</a:t>
            </a:r>
          </a:p>
          <a:p>
            <a:r>
              <a:rPr lang="en-US" sz="1200" dirty="0"/>
              <a:t>     - Give a task that uses those conventions: Claude should follow them without being told</a:t>
            </a:r>
          </a:p>
          <a:p>
            <a:endParaRPr lang="en-US" sz="1200" dirty="0"/>
          </a:p>
          <a:p>
            <a:r>
              <a:rPr lang="en-US" sz="1200" dirty="0"/>
              <a:t>  6. Optional quick demos of extensions:</a:t>
            </a:r>
          </a:p>
          <a:p>
            <a:r>
              <a:rPr lang="en-US" sz="1200" dirty="0"/>
              <a:t>     - Skills: invoke a pre-prepared /skill-name and show what it does</a:t>
            </a:r>
          </a:p>
          <a:p>
            <a:r>
              <a:rPr lang="en-US" sz="1200" dirty="0"/>
              <a:t>     - MCP: if configured, show Claude interacting with GitHub or Slack</a:t>
            </a:r>
          </a:p>
          <a:p>
            <a:endParaRPr lang="en-US" sz="1200" dirty="0"/>
          </a:p>
          <a:p>
            <a:r>
              <a:rPr lang="en-US" sz="1200" dirty="0"/>
              <a:t>For a hands-on lab session:</a:t>
            </a:r>
          </a:p>
          <a:p>
            <a:r>
              <a:rPr lang="en-US" sz="1200" dirty="0"/>
              <a:t>  - Share the sample project repo link or have participants clone it</a:t>
            </a:r>
          </a:p>
          <a:p>
            <a:r>
              <a:rPr lang="en-US" sz="1200" dirty="0"/>
              <a:t>  - Provide a sheet of starter tasks from simple to complex</a:t>
            </a:r>
          </a:p>
          <a:p>
            <a:r>
              <a:rPr lang="en-US" sz="1200" dirty="0"/>
              <a:t>  - Give 20-30 minutes for free exploration before a group debrief</a:t>
            </a:r>
          </a:p>
          <a:p>
            <a:endParaRPr lang="en-US" sz="1200" dirty="0"/>
          </a:p>
          <a:p>
            <a:r>
              <a:rPr lang="en-US" sz="1200" dirty="0"/>
              <a:t>Remind the audience of resources:</a:t>
            </a:r>
          </a:p>
          <a:p>
            <a:r>
              <a:rPr lang="en-US" sz="1200" dirty="0"/>
              <a:t>  - Full documentation: code.claude.com/docs</a:t>
            </a:r>
          </a:p>
          <a:p>
            <a:r>
              <a:rPr lang="en-US" sz="1200" dirty="0"/>
              <a:t>  - /help inside any Claude Code session lists all available commands</a:t>
            </a:r>
          </a:p>
          <a:p>
            <a:r>
              <a:rPr lang="en-US" sz="1200" dirty="0"/>
              <a:t>  - CLAUDE.md is the best single investment for long-term productivity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resentation Cover">
    <p:spTree>
      <p:nvGrpSpPr>
        <p:cNvPr id="1" name=""/>
        <p:cNvGrpSpPr/>
        <p:nvPr/>
      </p:nvGrpSpPr>
      <p:grpSpPr>
        <a:xfrm>
          <a:off x="0" y="0"/>
          <a:ext cx="0" cy="0"/>
          <a:chOff x="0" y="0"/>
          <a:chExt cx="0" cy="0"/>
        </a:xfrm>
      </p:grpSpPr>
      <p:pic>
        <p:nvPicPr>
          <p:cNvPr id="9" name="Immagine 8"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2" name="Title 1"/>
          <p:cNvSpPr>
            <a:spLocks noGrp="1"/>
          </p:cNvSpPr>
          <p:nvPr>
            <p:ph type="ctrTitle" hasCustomPrompt="1"/>
          </p:nvPr>
        </p:nvSpPr>
        <p:spPr>
          <a:xfrm>
            <a:off x="573852" y="799311"/>
            <a:ext cx="7585611" cy="2412171"/>
          </a:xfrm>
        </p:spPr>
        <p:txBody>
          <a:bodyPr anchor="b"/>
          <a:lstStyle>
            <a:lvl1pPr algn="l" defTabSz="914400" rtl="0" eaLnBrk="1" latinLnBrk="0" hangingPunct="1">
              <a:lnSpc>
                <a:spcPct val="80000"/>
              </a:lnSpc>
              <a:spcBef>
                <a:spcPct val="0"/>
              </a:spcBef>
              <a:buNone/>
              <a:defRPr lang="it-IT" sz="6000" i="0" u="none" kern="1200" cap="all" spc="-100" dirty="0" smtClean="0">
                <a:solidFill>
                  <a:schemeClr val="tx1"/>
                </a:solidFill>
                <a:latin typeface="Arial Black"/>
                <a:ea typeface="+mj-ea"/>
                <a:cs typeface="Arial Black"/>
              </a:defRPr>
            </a:lvl1pPr>
          </a:lstStyle>
          <a:p>
            <a:r>
              <a:rPr lang="it-IT" dirty="0"/>
              <a:t>INSERT YOUR</a:t>
            </a:r>
            <a:br>
              <a:rPr lang="it-IT" dirty="0"/>
            </a:br>
            <a:r>
              <a:rPr lang="it-IT" dirty="0"/>
              <a:t>TITLE HERE</a:t>
            </a:r>
            <a:endParaRPr lang="en-US" dirty="0"/>
          </a:p>
        </p:txBody>
      </p:sp>
      <p:sp>
        <p:nvSpPr>
          <p:cNvPr id="12" name="Subtitle 2"/>
          <p:cNvSpPr>
            <a:spLocks noGrp="1"/>
          </p:cNvSpPr>
          <p:nvPr>
            <p:ph type="subTitle" idx="1" hasCustomPrompt="1"/>
          </p:nvPr>
        </p:nvSpPr>
        <p:spPr>
          <a:xfrm>
            <a:off x="573852" y="3375892"/>
            <a:ext cx="7585612" cy="328820"/>
          </a:xfrm>
        </p:spPr>
        <p:txBody>
          <a:bodyPr lIns="0" bIns="0" anchor="t">
            <a:noAutofit/>
          </a:bodyPr>
          <a:lstStyle>
            <a:lvl1pPr marL="0" indent="0" algn="l">
              <a:buNone/>
              <a:defRPr sz="1800" b="0" cap="none">
                <a:solidFill>
                  <a:schemeClr val="tx1"/>
                </a:solidFill>
                <a:latin typeface="+mn-lt"/>
                <a:cs typeface="Arial Blac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pic>
        <p:nvPicPr>
          <p:cNvPr id="7" name="Bild 6" descr="Unbenannt-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88300" y="4723084"/>
            <a:ext cx="901701" cy="241840"/>
          </a:xfrm>
          <a:prstGeom prst="rect">
            <a:avLst/>
          </a:prstGeom>
        </p:spPr>
      </p:pic>
    </p:spTree>
    <p:extLst>
      <p:ext uri="{BB962C8B-B14F-4D97-AF65-F5344CB8AC3E}">
        <p14:creationId xmlns:p14="http://schemas.microsoft.com/office/powerpoint/2010/main" val="2702019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Meeting 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3852" y="408191"/>
            <a:ext cx="7968163" cy="266461"/>
          </a:xfrm>
        </p:spPr>
        <p:txBody>
          <a:bodyPr tIns="0" rIns="0" anchor="t" anchorCtr="0"/>
          <a:lstStyle>
            <a:lvl1pPr>
              <a:defRPr sz="3200" cap="all" baseline="0">
                <a:latin typeface="Arial Black" panose="020B0A04020102020204" pitchFamily="34" charset="0"/>
                <a:cs typeface="Arial" panose="020B0604020202020204" pitchFamily="34" charset="0"/>
              </a:defRPr>
            </a:lvl1pPr>
          </a:lstStyle>
          <a:p>
            <a:r>
              <a:rPr lang="it-IT" dirty="0"/>
              <a:t>INSERT YOUR TITLE HERE</a:t>
            </a:r>
            <a:endParaRPr lang="en-US" dirty="0"/>
          </a:p>
        </p:txBody>
      </p:sp>
      <p:sp>
        <p:nvSpPr>
          <p:cNvPr id="18" name="Subtitle 2"/>
          <p:cNvSpPr>
            <a:spLocks noGrp="1"/>
          </p:cNvSpPr>
          <p:nvPr>
            <p:ph type="subTitle" idx="1"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pic>
        <p:nvPicPr>
          <p:cNvPr id="7"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6" name="Inhaltsplatzhalter 2"/>
          <p:cNvSpPr>
            <a:spLocks noGrp="1"/>
          </p:cNvSpPr>
          <p:nvPr>
            <p:ph idx="10"/>
          </p:nvPr>
        </p:nvSpPr>
        <p:spPr>
          <a:xfrm>
            <a:off x="603248" y="1594892"/>
            <a:ext cx="7937501" cy="2462213"/>
          </a:xfrm>
        </p:spPr>
        <p:txBody>
          <a:bodyPr/>
          <a:lstStyle>
            <a:lvl1pPr marL="500063" indent="-500063">
              <a:spcBef>
                <a:spcPts val="1200"/>
              </a:spcBef>
              <a:buClr>
                <a:schemeClr val="accent2"/>
              </a:buClr>
              <a:buSzPct val="100000"/>
              <a:buFont typeface="+mj-lt"/>
              <a:buAutoNum type="arabicPlain"/>
              <a:tabLst/>
              <a:defRPr/>
            </a:lvl1pPr>
            <a:lvl2pPr marL="982663" indent="-490538">
              <a:spcBef>
                <a:spcPts val="1200"/>
              </a:spcBef>
              <a:buClr>
                <a:schemeClr val="accent2"/>
              </a:buClr>
              <a:buSzPct val="100000"/>
              <a:buFont typeface="+mj-lt"/>
              <a:buAutoNum type="arabicPlain"/>
              <a:tabLst/>
              <a:defRPr cap="none">
                <a:solidFill>
                  <a:schemeClr val="tx1"/>
                </a:solidFill>
              </a:defRPr>
            </a:lvl2pPr>
            <a:lvl3pPr marL="1431925" indent="-450850">
              <a:spcBef>
                <a:spcPts val="1200"/>
              </a:spcBef>
              <a:buClr>
                <a:schemeClr val="accent2"/>
              </a:buClr>
              <a:buSzPct val="100000"/>
              <a:buFont typeface="+mj-lt"/>
              <a:buAutoNum type="arabicPlain"/>
              <a:tabLst/>
              <a:defRPr sz="1600">
                <a:solidFill>
                  <a:schemeClr val="tx1"/>
                </a:solidFill>
              </a:defRPr>
            </a:lvl3pPr>
            <a:lvl4pPr marL="1371600" indent="-342900">
              <a:buFont typeface="+mj-lt"/>
              <a:buAutoNum type="arabicPeriod"/>
              <a:defRPr/>
            </a:lvl4pPr>
            <a:lvl5pPr marL="1714500" indent="-342900">
              <a:buFont typeface="+mj-lt"/>
              <a:buAutoNum type="arabicPeriod"/>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275933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apter Cover Opt 1">
    <p:spTree>
      <p:nvGrpSpPr>
        <p:cNvPr id="1" name=""/>
        <p:cNvGrpSpPr/>
        <p:nvPr/>
      </p:nvGrpSpPr>
      <p:grpSpPr>
        <a:xfrm>
          <a:off x="0" y="0"/>
          <a:ext cx="0" cy="0"/>
          <a:chOff x="0" y="0"/>
          <a:chExt cx="0" cy="0"/>
        </a:xfrm>
      </p:grpSpPr>
      <p:pic>
        <p:nvPicPr>
          <p:cNvPr id="7" name="Immagine 6"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16" name="Title 1"/>
          <p:cNvSpPr>
            <a:spLocks noGrp="1"/>
          </p:cNvSpPr>
          <p:nvPr>
            <p:ph type="ctrTitle" hasCustomPrompt="1"/>
          </p:nvPr>
        </p:nvSpPr>
        <p:spPr>
          <a:xfrm>
            <a:off x="780889" y="1371684"/>
            <a:ext cx="7582223" cy="1631422"/>
          </a:xfrm>
        </p:spPr>
        <p:txBody>
          <a:bodyPr anchor="b"/>
          <a:lstStyle>
            <a:lvl1pPr algn="ctr">
              <a:lnSpc>
                <a:spcPct val="80000"/>
              </a:lnSpc>
              <a:defRPr lang="en-US" sz="6000" i="0" u="none" kern="1200" cap="all" spc="-100" baseline="0" dirty="0">
                <a:solidFill>
                  <a:srgbClr val="FFFFFF"/>
                </a:solidFill>
                <a:latin typeface="Arial Black"/>
                <a:ea typeface="+mj-ea"/>
                <a:cs typeface="Arial Black"/>
              </a:defRPr>
            </a:lvl1pPr>
          </a:lstStyle>
          <a:p>
            <a:r>
              <a:rPr lang="it-IT" dirty="0"/>
              <a:t>SECTION </a:t>
            </a:r>
            <a:br>
              <a:rPr lang="it-IT" dirty="0"/>
            </a:br>
            <a:r>
              <a:rPr lang="it-IT" dirty="0"/>
              <a:t>SLIDE</a:t>
            </a:r>
            <a:endParaRPr lang="en-US" dirty="0"/>
          </a:p>
        </p:txBody>
      </p:sp>
      <p:pic>
        <p:nvPicPr>
          <p:cNvPr id="8"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Tree>
    <p:extLst>
      <p:ext uri="{BB962C8B-B14F-4D97-AF65-F5344CB8AC3E}">
        <p14:creationId xmlns:p14="http://schemas.microsoft.com/office/powerpoint/2010/main" val="1798952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tatement Cover Opt 1">
    <p:spTree>
      <p:nvGrpSpPr>
        <p:cNvPr id="1" name=""/>
        <p:cNvGrpSpPr/>
        <p:nvPr/>
      </p:nvGrpSpPr>
      <p:grpSpPr>
        <a:xfrm>
          <a:off x="0" y="0"/>
          <a:ext cx="0" cy="0"/>
          <a:chOff x="0" y="0"/>
          <a:chExt cx="0" cy="0"/>
        </a:xfrm>
      </p:grpSpPr>
      <p:pic>
        <p:nvPicPr>
          <p:cNvPr id="7" name="Immagine 6"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16" name="Title 1"/>
          <p:cNvSpPr>
            <a:spLocks noGrp="1"/>
          </p:cNvSpPr>
          <p:nvPr>
            <p:ph type="ctrTitle" hasCustomPrompt="1"/>
          </p:nvPr>
        </p:nvSpPr>
        <p:spPr>
          <a:xfrm>
            <a:off x="780889" y="1371684"/>
            <a:ext cx="7582223" cy="1631422"/>
          </a:xfrm>
        </p:spPr>
        <p:txBody>
          <a:bodyPr anchor="t"/>
          <a:lstStyle>
            <a:lvl1pPr algn="ctr">
              <a:lnSpc>
                <a:spcPct val="80000"/>
              </a:lnSpc>
              <a:defRPr lang="en-US" sz="5400" i="0" u="none" kern="1200" cap="all" spc="-100" baseline="0" dirty="0">
                <a:solidFill>
                  <a:schemeClr val="tx1"/>
                </a:solidFill>
                <a:latin typeface="Arial Black"/>
                <a:ea typeface="+mj-ea"/>
                <a:cs typeface="Arial Black"/>
              </a:defRPr>
            </a:lvl1pPr>
          </a:lstStyle>
          <a:p>
            <a:r>
              <a:rPr lang="de-DE" dirty="0"/>
              <a:t>STATEMENT </a:t>
            </a:r>
            <a:br>
              <a:rPr lang="de-DE" dirty="0"/>
            </a:br>
            <a:r>
              <a:rPr lang="de-DE" dirty="0"/>
              <a:t>CHART FOR IMPORTANT </a:t>
            </a:r>
            <a:br>
              <a:rPr lang="de-DE" dirty="0"/>
            </a:br>
            <a:r>
              <a:rPr lang="de-DE" dirty="0"/>
              <a:t>POINTS</a:t>
            </a:r>
            <a:endParaRPr lang="en-US" dirty="0"/>
          </a:p>
        </p:txBody>
      </p:sp>
      <p:pic>
        <p:nvPicPr>
          <p:cNvPr id="8"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Tree>
    <p:extLst>
      <p:ext uri="{BB962C8B-B14F-4D97-AF65-F5344CB8AC3E}">
        <p14:creationId xmlns:p14="http://schemas.microsoft.com/office/powerpoint/2010/main" val="1069305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atement">
    <p:spTree>
      <p:nvGrpSpPr>
        <p:cNvPr id="1" name=""/>
        <p:cNvGrpSpPr/>
        <p:nvPr/>
      </p:nvGrpSpPr>
      <p:grpSpPr>
        <a:xfrm>
          <a:off x="0" y="0"/>
          <a:ext cx="0" cy="0"/>
          <a:chOff x="0" y="0"/>
          <a:chExt cx="0" cy="0"/>
        </a:xfrm>
      </p:grpSpPr>
      <p:sp>
        <p:nvSpPr>
          <p:cNvPr id="4" name="Subtitle 2"/>
          <p:cNvSpPr>
            <a:spLocks noGrp="1"/>
          </p:cNvSpPr>
          <p:nvPr>
            <p:ph type="subTitle" idx="1" hasCustomPrompt="1"/>
          </p:nvPr>
        </p:nvSpPr>
        <p:spPr>
          <a:xfrm>
            <a:off x="780889" y="3823821"/>
            <a:ext cx="7582223" cy="328820"/>
          </a:xfrm>
        </p:spPr>
        <p:txBody>
          <a:bodyPr lIns="0" bIns="0" anchor="t">
            <a:noAutofit/>
          </a:bodyPr>
          <a:lstStyle>
            <a:lvl1pPr marL="0" indent="0" algn="ctr">
              <a:buNone/>
              <a:defRPr sz="2400" b="0" cap="none" baseline="0">
                <a:solidFill>
                  <a:schemeClr val="tx1"/>
                </a:solidFill>
                <a:latin typeface="+mj-lt"/>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a:t>INSERT YOUR SUBTITLE HERE</a:t>
            </a:r>
            <a:endParaRPr lang="en-US" dirty="0"/>
          </a:p>
        </p:txBody>
      </p:sp>
      <p:sp>
        <p:nvSpPr>
          <p:cNvPr id="5" name="Title 1"/>
          <p:cNvSpPr>
            <a:spLocks noGrp="1"/>
          </p:cNvSpPr>
          <p:nvPr>
            <p:ph type="ctrTitle" hasCustomPrompt="1"/>
          </p:nvPr>
        </p:nvSpPr>
        <p:spPr>
          <a:xfrm>
            <a:off x="780889" y="1937802"/>
            <a:ext cx="7582223" cy="1267896"/>
          </a:xfrm>
        </p:spPr>
        <p:txBody>
          <a:bodyPr anchor="ctr"/>
          <a:lstStyle>
            <a:lvl1pPr algn="ctr">
              <a:lnSpc>
                <a:spcPct val="100000"/>
              </a:lnSpc>
              <a:defRPr lang="en-US" sz="5400" i="0" u="none" kern="1200" cap="all" spc="-100" baseline="0" dirty="0">
                <a:solidFill>
                  <a:schemeClr val="tx1"/>
                </a:solidFill>
                <a:latin typeface="Arial Black"/>
                <a:ea typeface="+mj-ea"/>
                <a:cs typeface="Arial Black"/>
              </a:defRPr>
            </a:lvl1pPr>
          </a:lstStyle>
          <a:p>
            <a:r>
              <a:rPr lang="it-IT" dirty="0" err="1"/>
              <a:t>Insert</a:t>
            </a:r>
            <a:r>
              <a:rPr lang="it-IT" dirty="0"/>
              <a:t> </a:t>
            </a:r>
            <a:r>
              <a:rPr lang="it-IT" dirty="0" err="1"/>
              <a:t>your</a:t>
            </a:r>
            <a:r>
              <a:rPr lang="it-IT" dirty="0"/>
              <a:t> TEXT </a:t>
            </a:r>
            <a:r>
              <a:rPr lang="it-IT" dirty="0" err="1"/>
              <a:t>here</a:t>
            </a:r>
            <a:endParaRPr lang="en-US" dirty="0"/>
          </a:p>
        </p:txBody>
      </p:sp>
      <p:pic>
        <p:nvPicPr>
          <p:cNvPr id="7"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Tree>
    <p:extLst>
      <p:ext uri="{BB962C8B-B14F-4D97-AF65-F5344CB8AC3E}">
        <p14:creationId xmlns:p14="http://schemas.microsoft.com/office/powerpoint/2010/main" val="2649855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tatement with Background IMG">
    <p:spTree>
      <p:nvGrpSpPr>
        <p:cNvPr id="1" name=""/>
        <p:cNvGrpSpPr/>
        <p:nvPr/>
      </p:nvGrpSpPr>
      <p:grpSpPr>
        <a:xfrm>
          <a:off x="0" y="0"/>
          <a:ext cx="0" cy="0"/>
          <a:chOff x="0" y="0"/>
          <a:chExt cx="0" cy="0"/>
        </a:xfrm>
      </p:grpSpPr>
      <p:pic>
        <p:nvPicPr>
          <p:cNvPr id="6" name="Bild 9"/>
          <p:cNvPicPr>
            <a:picLocks noChangeAspect="1"/>
          </p:cNvPicPr>
          <p:nvPr userDrawn="1"/>
        </p:nvPicPr>
        <p:blipFill rotWithShape="1">
          <a:blip r:embed="rId2"/>
          <a:srcRect t="-114" b="24638"/>
          <a:stretch/>
        </p:blipFill>
        <p:spPr>
          <a:xfrm>
            <a:off x="0" y="-7749"/>
            <a:ext cx="9144000" cy="5174110"/>
          </a:xfrm>
          <a:prstGeom prst="rect">
            <a:avLst/>
          </a:prstGeom>
        </p:spPr>
      </p:pic>
      <p:sp>
        <p:nvSpPr>
          <p:cNvPr id="8" name="Rechteck 6"/>
          <p:cNvSpPr/>
          <p:nvPr userDrawn="1"/>
        </p:nvSpPr>
        <p:spPr>
          <a:xfrm>
            <a:off x="0" y="1"/>
            <a:ext cx="9144000" cy="5166360"/>
          </a:xfrm>
          <a:prstGeom prst="rect">
            <a:avLst/>
          </a:prstGeom>
          <a:solidFill>
            <a:schemeClr val="bg1">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Subtitle 2"/>
          <p:cNvSpPr>
            <a:spLocks noGrp="1"/>
          </p:cNvSpPr>
          <p:nvPr>
            <p:ph type="subTitle" idx="1" hasCustomPrompt="1"/>
          </p:nvPr>
        </p:nvSpPr>
        <p:spPr>
          <a:xfrm>
            <a:off x="780889" y="3823821"/>
            <a:ext cx="7582223" cy="328820"/>
          </a:xfrm>
        </p:spPr>
        <p:txBody>
          <a:bodyPr lIns="0" bIns="0" anchor="t">
            <a:noAutofit/>
          </a:bodyPr>
          <a:lstStyle>
            <a:lvl1pPr marL="0" indent="0" algn="ctr">
              <a:buNone/>
              <a:defRPr sz="2400" b="0" cap="none" baseline="0">
                <a:solidFill>
                  <a:schemeClr val="tx1"/>
                </a:solidFill>
                <a:latin typeface="+mj-lt"/>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a:t>INSERT YOUR SUBTITLE HERE</a:t>
            </a:r>
            <a:endParaRPr lang="en-US" dirty="0"/>
          </a:p>
        </p:txBody>
      </p:sp>
      <p:sp>
        <p:nvSpPr>
          <p:cNvPr id="5" name="Title 1"/>
          <p:cNvSpPr>
            <a:spLocks noGrp="1"/>
          </p:cNvSpPr>
          <p:nvPr>
            <p:ph type="ctrTitle" hasCustomPrompt="1"/>
          </p:nvPr>
        </p:nvSpPr>
        <p:spPr>
          <a:xfrm>
            <a:off x="780889" y="1937802"/>
            <a:ext cx="7582223" cy="1267896"/>
          </a:xfrm>
        </p:spPr>
        <p:txBody>
          <a:bodyPr anchor="ctr"/>
          <a:lstStyle>
            <a:lvl1pPr algn="ctr">
              <a:lnSpc>
                <a:spcPct val="100000"/>
              </a:lnSpc>
              <a:defRPr lang="en-US" sz="5400" i="0" u="none" kern="1200" cap="all" spc="-100" baseline="0" dirty="0">
                <a:solidFill>
                  <a:schemeClr val="tx1"/>
                </a:solidFill>
                <a:latin typeface="Arial Black"/>
                <a:ea typeface="+mj-ea"/>
                <a:cs typeface="Arial Black"/>
              </a:defRPr>
            </a:lvl1pPr>
          </a:lstStyle>
          <a:p>
            <a:r>
              <a:rPr lang="it-IT" dirty="0" err="1"/>
              <a:t>Insert</a:t>
            </a:r>
            <a:r>
              <a:rPr lang="it-IT" dirty="0"/>
              <a:t> </a:t>
            </a:r>
            <a:r>
              <a:rPr lang="it-IT" dirty="0" err="1"/>
              <a:t>your</a:t>
            </a:r>
            <a:r>
              <a:rPr lang="it-IT" dirty="0"/>
              <a:t> TEXT </a:t>
            </a:r>
            <a:r>
              <a:rPr lang="it-IT" dirty="0" err="1"/>
              <a:t>here</a:t>
            </a:r>
            <a:endParaRPr lang="en-US" dirty="0"/>
          </a:p>
        </p:txBody>
      </p:sp>
      <p:pic>
        <p:nvPicPr>
          <p:cNvPr id="7"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Tree>
    <p:extLst>
      <p:ext uri="{BB962C8B-B14F-4D97-AF65-F5344CB8AC3E}">
        <p14:creationId xmlns:p14="http://schemas.microsoft.com/office/powerpoint/2010/main" val="3216051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Fullscreen image + TEXT">
    <p:spTree>
      <p:nvGrpSpPr>
        <p:cNvPr id="1" name=""/>
        <p:cNvGrpSpPr/>
        <p:nvPr/>
      </p:nvGrpSpPr>
      <p:grpSpPr>
        <a:xfrm>
          <a:off x="0" y="0"/>
          <a:ext cx="0" cy="0"/>
          <a:chOff x="0" y="0"/>
          <a:chExt cx="0" cy="0"/>
        </a:xfrm>
      </p:grpSpPr>
      <p:pic>
        <p:nvPicPr>
          <p:cNvPr id="9" name="Grafik 11"/>
          <p:cNvPicPr>
            <a:picLocks noChangeAspect="1"/>
          </p:cNvPicPr>
          <p:nvPr userDrawn="1"/>
        </p:nvPicPr>
        <p:blipFill rotWithShape="1">
          <a:blip r:embed="rId2"/>
          <a:srcRect t="-1" r="11734" b="25474"/>
          <a:stretch/>
        </p:blipFill>
        <p:spPr>
          <a:xfrm>
            <a:off x="-1" y="0"/>
            <a:ext cx="9144000" cy="5135526"/>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144000" h="6858000">
                <a:moveTo>
                  <a:pt x="0" y="0"/>
                </a:moveTo>
                <a:lnTo>
                  <a:pt x="9144000" y="0"/>
                </a:lnTo>
                <a:lnTo>
                  <a:pt x="9144000" y="6858000"/>
                </a:lnTo>
                <a:lnTo>
                  <a:pt x="0" y="6858000"/>
                </a:lnTo>
                <a:close/>
              </a:path>
            </a:pathLst>
          </a:custGeom>
        </p:spPr>
      </p:pic>
      <p:sp>
        <p:nvSpPr>
          <p:cNvPr id="10" name="Rechteck 6"/>
          <p:cNvSpPr/>
          <p:nvPr userDrawn="1"/>
        </p:nvSpPr>
        <p:spPr>
          <a:xfrm>
            <a:off x="0" y="1"/>
            <a:ext cx="9144000" cy="5143499"/>
          </a:xfrm>
          <a:prstGeom prst="rect">
            <a:avLst/>
          </a:prstGeom>
          <a:solidFill>
            <a:schemeClr val="bg1">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Subtitle 2"/>
          <p:cNvSpPr>
            <a:spLocks noGrp="1"/>
          </p:cNvSpPr>
          <p:nvPr>
            <p:ph type="subTitle" idx="1" hasCustomPrompt="1"/>
          </p:nvPr>
        </p:nvSpPr>
        <p:spPr>
          <a:xfrm>
            <a:off x="780889" y="3823821"/>
            <a:ext cx="7582223" cy="328820"/>
          </a:xfrm>
        </p:spPr>
        <p:txBody>
          <a:bodyPr lIns="0" bIns="0" anchor="t">
            <a:noAutofit/>
          </a:bodyPr>
          <a:lstStyle>
            <a:lvl1pPr marL="0" indent="0" algn="ctr">
              <a:buNone/>
              <a:defRPr sz="2400" b="0" cap="none" baseline="0">
                <a:solidFill>
                  <a:schemeClr val="tx1"/>
                </a:solidFill>
                <a:latin typeface="+mj-lt"/>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a:t>INSERT YOUR SUBTITLE HERE</a:t>
            </a:r>
            <a:endParaRPr lang="en-US" dirty="0"/>
          </a:p>
        </p:txBody>
      </p:sp>
      <p:sp>
        <p:nvSpPr>
          <p:cNvPr id="5" name="Title 1"/>
          <p:cNvSpPr>
            <a:spLocks noGrp="1"/>
          </p:cNvSpPr>
          <p:nvPr>
            <p:ph type="ctrTitle" hasCustomPrompt="1"/>
          </p:nvPr>
        </p:nvSpPr>
        <p:spPr>
          <a:xfrm>
            <a:off x="780889" y="1937802"/>
            <a:ext cx="7582223" cy="1267896"/>
          </a:xfrm>
        </p:spPr>
        <p:txBody>
          <a:bodyPr anchor="ctr"/>
          <a:lstStyle>
            <a:lvl1pPr algn="ctr">
              <a:lnSpc>
                <a:spcPct val="100000"/>
              </a:lnSpc>
              <a:defRPr lang="en-US" sz="6000" i="0" u="none" kern="1200" cap="all" spc="-100" baseline="0" dirty="0">
                <a:solidFill>
                  <a:schemeClr val="tx1"/>
                </a:solidFill>
                <a:latin typeface="Arial Black"/>
                <a:ea typeface="+mj-ea"/>
                <a:cs typeface="Arial Black"/>
              </a:defRPr>
            </a:lvl1pPr>
          </a:lstStyle>
          <a:p>
            <a:r>
              <a:rPr lang="it-IT" dirty="0" err="1"/>
              <a:t>Insert</a:t>
            </a:r>
            <a:r>
              <a:rPr lang="it-IT" dirty="0"/>
              <a:t> </a:t>
            </a:r>
            <a:r>
              <a:rPr lang="it-IT" dirty="0" err="1"/>
              <a:t>your</a:t>
            </a:r>
            <a:r>
              <a:rPr lang="it-IT" dirty="0"/>
              <a:t> TEXT </a:t>
            </a:r>
            <a:r>
              <a:rPr lang="it-IT" dirty="0" err="1"/>
              <a:t>here</a:t>
            </a:r>
            <a:endParaRPr lang="en-US" dirty="0"/>
          </a:p>
        </p:txBody>
      </p:sp>
      <p:pic>
        <p:nvPicPr>
          <p:cNvPr id="7"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Tree>
    <p:extLst>
      <p:ext uri="{BB962C8B-B14F-4D97-AF65-F5344CB8AC3E}">
        <p14:creationId xmlns:p14="http://schemas.microsoft.com/office/powerpoint/2010/main" val="3125841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73852" y="408191"/>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dirty="0"/>
              <a:t>INSERT YOUR TITLE HERE</a:t>
            </a:r>
            <a:endParaRPr lang="en-US" dirty="0"/>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5" name="Subtitle 2"/>
          <p:cNvSpPr>
            <a:spLocks noGrp="1"/>
          </p:cNvSpPr>
          <p:nvPr>
            <p:ph type="subTitle" idx="1"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spTree>
    <p:extLst>
      <p:ext uri="{BB962C8B-B14F-4D97-AF65-F5344CB8AC3E}">
        <p14:creationId xmlns:p14="http://schemas.microsoft.com/office/powerpoint/2010/main" val="656067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3852" y="408191"/>
            <a:ext cx="7968163" cy="266461"/>
          </a:xfrm>
        </p:spPr>
        <p:txBody>
          <a:bodyPr tIns="0" rIns="0" anchor="t" anchorCtr="0"/>
          <a:lstStyle>
            <a:lvl1pPr>
              <a:defRPr sz="3200" cap="all" baseline="0">
                <a:latin typeface="Arial Black" panose="020B0A04020102020204" pitchFamily="34" charset="0"/>
                <a:cs typeface="Arial" panose="020B0604020202020204" pitchFamily="34" charset="0"/>
              </a:defRPr>
            </a:lvl1pPr>
          </a:lstStyle>
          <a:p>
            <a:r>
              <a:rPr lang="it-IT" dirty="0"/>
              <a:t>INSERT YOUR TITLE HERE</a:t>
            </a:r>
            <a:endParaRPr lang="en-US" dirty="0"/>
          </a:p>
        </p:txBody>
      </p:sp>
      <p:sp>
        <p:nvSpPr>
          <p:cNvPr id="15" name="Segnaposto testo 14"/>
          <p:cNvSpPr>
            <a:spLocks noGrp="1"/>
          </p:cNvSpPr>
          <p:nvPr>
            <p:ph type="body" sz="quarter" idx="10" hasCustomPrompt="1"/>
          </p:nvPr>
        </p:nvSpPr>
        <p:spPr>
          <a:xfrm>
            <a:off x="573852" y="1401951"/>
            <a:ext cx="7968163" cy="3041814"/>
          </a:xfrm>
        </p:spPr>
        <p:txBody>
          <a:bodyPr lIns="0" bIns="0"/>
          <a:lstStyle>
            <a:lvl1pPr>
              <a:lnSpc>
                <a:spcPct val="100000"/>
              </a:lnSpc>
              <a:defRPr/>
            </a:lvl1pPr>
            <a:lvl2pPr>
              <a:lnSpc>
                <a:spcPct val="100000"/>
              </a:lnSpc>
              <a:defRPr>
                <a:solidFill>
                  <a:schemeClr val="tx2"/>
                </a:solidFill>
              </a:defRPr>
            </a:lvl2pPr>
            <a:lvl3pPr>
              <a:defRPr>
                <a:solidFill>
                  <a:schemeClr val="tx2"/>
                </a:solidFill>
              </a:defRPr>
            </a:lvl3pPr>
            <a:lvl4pPr>
              <a:buClr>
                <a:schemeClr val="tx2"/>
              </a:buClr>
              <a:defRPr/>
            </a:lvl4pPr>
            <a:lvl6pPr>
              <a:defRPr sz="1700"/>
            </a:lvl6pPr>
            <a:lvl7pPr marL="180000" indent="-180000">
              <a:buClr>
                <a:schemeClr val="tx2"/>
              </a:buClr>
              <a:buAutoNum type="arabicPeriod"/>
              <a:defRPr lang="it-IT" sz="1800" kern="1200" baseline="0" dirty="0" smtClean="0">
                <a:solidFill>
                  <a:schemeClr val="tx1"/>
                </a:solidFill>
                <a:latin typeface="Arial" panose="020B0604020202020204" pitchFamily="34" charset="0"/>
                <a:ea typeface="+mn-ea"/>
                <a:cs typeface="Arial" panose="020B0604020202020204" pitchFamily="34" charset="0"/>
              </a:defRPr>
            </a:lvl7pPr>
            <a:lvl8pPr>
              <a:buAutoNum type="arabicPeriod"/>
              <a:defRPr/>
            </a:lvl8pPr>
            <a:lvl9pPr>
              <a:defRPr sz="1700"/>
            </a:lvl9pPr>
          </a:lstStyle>
          <a:p>
            <a:pPr lvl="0"/>
            <a:r>
              <a:rPr lang="it-IT" dirty="0"/>
              <a:t>Basic text</a:t>
            </a:r>
          </a:p>
          <a:p>
            <a:pPr lvl="1"/>
            <a:r>
              <a:rPr lang="it-IT" dirty="0"/>
              <a:t>Text in CAPITAL </a:t>
            </a:r>
            <a:r>
              <a:rPr lang="it-IT" dirty="0" err="1"/>
              <a:t>LeTTERS</a:t>
            </a:r>
            <a:endParaRPr lang="it-IT" dirty="0"/>
          </a:p>
          <a:p>
            <a:pPr lvl="3"/>
            <a:r>
              <a:rPr lang="it-IT" dirty="0"/>
              <a:t>First </a:t>
            </a:r>
            <a:r>
              <a:rPr lang="it-IT" dirty="0" err="1"/>
              <a:t>bullet</a:t>
            </a:r>
            <a:r>
              <a:rPr lang="it-IT" dirty="0"/>
              <a:t> </a:t>
            </a:r>
            <a:r>
              <a:rPr lang="it-IT" dirty="0" err="1"/>
              <a:t>point</a:t>
            </a:r>
            <a:r>
              <a:rPr lang="it-IT" dirty="0"/>
              <a:t> text</a:t>
            </a:r>
          </a:p>
          <a:p>
            <a:pPr lvl="4"/>
            <a:r>
              <a:rPr lang="it-IT" dirty="0"/>
              <a:t>Second </a:t>
            </a:r>
            <a:r>
              <a:rPr lang="it-IT" dirty="0" err="1"/>
              <a:t>bullet</a:t>
            </a:r>
            <a:r>
              <a:rPr lang="it-IT" dirty="0"/>
              <a:t> </a:t>
            </a:r>
            <a:r>
              <a:rPr lang="it-IT" dirty="0" err="1"/>
              <a:t>point</a:t>
            </a:r>
            <a:r>
              <a:rPr lang="it-IT" dirty="0"/>
              <a:t> text</a:t>
            </a:r>
          </a:p>
          <a:p>
            <a:pPr lvl="5"/>
            <a:r>
              <a:rPr lang="it-IT" dirty="0"/>
              <a:t>Third </a:t>
            </a:r>
            <a:r>
              <a:rPr lang="it-IT" dirty="0" err="1"/>
              <a:t>bullet</a:t>
            </a:r>
            <a:r>
              <a:rPr lang="it-IT" dirty="0"/>
              <a:t> </a:t>
            </a:r>
            <a:r>
              <a:rPr lang="it-IT" dirty="0" err="1"/>
              <a:t>point</a:t>
            </a:r>
            <a:r>
              <a:rPr lang="it-IT" dirty="0"/>
              <a:t> text</a:t>
            </a:r>
          </a:p>
          <a:p>
            <a:pPr marL="514350" lvl="6" indent="-514350" algn="l" defTabSz="457200" rtl="0" eaLnBrk="1" latinLnBrk="0" hangingPunct="1">
              <a:lnSpc>
                <a:spcPct val="150000"/>
              </a:lnSpc>
              <a:spcBef>
                <a:spcPts val="600"/>
              </a:spcBef>
              <a:buClr>
                <a:schemeClr val="tx2"/>
              </a:buClr>
              <a:buSzPct val="130000"/>
              <a:buFont typeface="+mj-lt"/>
              <a:buAutoNum type="arabicPeriod"/>
            </a:pPr>
            <a:r>
              <a:rPr lang="it-IT" dirty="0"/>
              <a:t>First </a:t>
            </a:r>
            <a:r>
              <a:rPr lang="it-IT" dirty="0" err="1"/>
              <a:t>numbered</a:t>
            </a:r>
            <a:r>
              <a:rPr lang="it-IT" dirty="0"/>
              <a:t> text</a:t>
            </a:r>
          </a:p>
          <a:p>
            <a:pPr lvl="7"/>
            <a:r>
              <a:rPr lang="it-IT" dirty="0"/>
              <a:t>Second </a:t>
            </a:r>
            <a:r>
              <a:rPr lang="it-IT" dirty="0" err="1"/>
              <a:t>numbered</a:t>
            </a:r>
            <a:r>
              <a:rPr lang="it-IT" dirty="0"/>
              <a:t> text</a:t>
            </a:r>
          </a:p>
          <a:p>
            <a:pPr lvl="8"/>
            <a:r>
              <a:rPr lang="it-IT" dirty="0"/>
              <a:t>Third </a:t>
            </a:r>
            <a:r>
              <a:rPr lang="it-IT" dirty="0" err="1"/>
              <a:t>numbered</a:t>
            </a:r>
            <a:r>
              <a:rPr lang="it-IT" dirty="0"/>
              <a:t> text</a:t>
            </a:r>
            <a:endParaRPr lang="en-US" dirty="0"/>
          </a:p>
        </p:txBody>
      </p:sp>
      <p:pic>
        <p:nvPicPr>
          <p:cNvPr id="7"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6" name="Subtitle 2"/>
          <p:cNvSpPr>
            <a:spLocks noGrp="1"/>
          </p:cNvSpPr>
          <p:nvPr>
            <p:ph type="subTitle" idx="1"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spTree>
    <p:extLst>
      <p:ext uri="{BB962C8B-B14F-4D97-AF65-F5344CB8AC3E}">
        <p14:creationId xmlns:p14="http://schemas.microsoft.com/office/powerpoint/2010/main" val="2685245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Two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73852" y="1437651"/>
            <a:ext cx="3815268"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dirty="0"/>
              <a:t>Basic text</a:t>
            </a:r>
          </a:p>
          <a:p>
            <a:pPr lvl="1"/>
            <a:r>
              <a:rPr lang="it-IT" dirty="0"/>
              <a:t>Text in CAPITAL LETTERS</a:t>
            </a:r>
          </a:p>
          <a:p>
            <a:pPr lvl="2"/>
            <a:r>
              <a:rPr lang="it-IT" dirty="0"/>
              <a:t>Basic green text</a:t>
            </a:r>
          </a:p>
          <a:p>
            <a:pPr lvl="3"/>
            <a:r>
              <a:rPr lang="it-IT" dirty="0"/>
              <a:t>First </a:t>
            </a:r>
            <a:r>
              <a:rPr lang="it-IT" dirty="0" err="1"/>
              <a:t>bullet</a:t>
            </a:r>
            <a:r>
              <a:rPr lang="it-IT" dirty="0"/>
              <a:t> </a:t>
            </a:r>
            <a:r>
              <a:rPr lang="it-IT" dirty="0" err="1"/>
              <a:t>point</a:t>
            </a:r>
            <a:r>
              <a:rPr lang="it-IT" dirty="0"/>
              <a:t> text</a:t>
            </a:r>
          </a:p>
          <a:p>
            <a:pPr lvl="4"/>
            <a:r>
              <a:rPr lang="it-IT" dirty="0"/>
              <a:t>Second </a:t>
            </a:r>
            <a:r>
              <a:rPr lang="it-IT" dirty="0" err="1"/>
              <a:t>bullet</a:t>
            </a:r>
            <a:r>
              <a:rPr lang="it-IT" dirty="0"/>
              <a:t> </a:t>
            </a:r>
            <a:r>
              <a:rPr lang="it-IT" dirty="0" err="1"/>
              <a:t>point</a:t>
            </a:r>
            <a:r>
              <a:rPr lang="it-IT" dirty="0"/>
              <a:t> text</a:t>
            </a:r>
          </a:p>
          <a:p>
            <a:pPr lvl="5"/>
            <a:r>
              <a:rPr lang="it-IT" dirty="0"/>
              <a:t>Third </a:t>
            </a:r>
            <a:r>
              <a:rPr lang="it-IT" dirty="0" err="1"/>
              <a:t>bullet</a:t>
            </a:r>
            <a:r>
              <a:rPr lang="it-IT" dirty="0"/>
              <a:t> </a:t>
            </a:r>
            <a:r>
              <a:rPr lang="it-IT" dirty="0" err="1"/>
              <a:t>point</a:t>
            </a:r>
            <a:r>
              <a:rPr lang="it-IT" dirty="0"/>
              <a:t> text</a:t>
            </a:r>
          </a:p>
          <a:p>
            <a:pPr lvl="6"/>
            <a:r>
              <a:rPr lang="it-IT" dirty="0"/>
              <a:t>First </a:t>
            </a:r>
            <a:r>
              <a:rPr lang="it-IT" dirty="0" err="1"/>
              <a:t>numbered</a:t>
            </a:r>
            <a:r>
              <a:rPr lang="it-IT" dirty="0"/>
              <a:t> text</a:t>
            </a:r>
          </a:p>
          <a:p>
            <a:pPr lvl="7"/>
            <a:r>
              <a:rPr lang="it-IT" dirty="0"/>
              <a:t>Second </a:t>
            </a:r>
            <a:r>
              <a:rPr lang="it-IT" dirty="0" err="1"/>
              <a:t>numbered</a:t>
            </a:r>
            <a:r>
              <a:rPr lang="it-IT" dirty="0"/>
              <a:t> text</a:t>
            </a:r>
          </a:p>
          <a:p>
            <a:pPr lvl="8"/>
            <a:r>
              <a:rPr lang="it-IT" dirty="0"/>
              <a:t>Third </a:t>
            </a:r>
            <a:r>
              <a:rPr lang="it-IT" dirty="0" err="1"/>
              <a:t>numbered</a:t>
            </a:r>
            <a:r>
              <a:rPr lang="it-IT" dirty="0"/>
              <a:t> text</a:t>
            </a:r>
            <a:endParaRPr lang="en-US" dirty="0"/>
          </a:p>
        </p:txBody>
      </p:sp>
      <p:sp>
        <p:nvSpPr>
          <p:cNvPr id="4" name="Content Placeholder 3"/>
          <p:cNvSpPr>
            <a:spLocks noGrp="1"/>
          </p:cNvSpPr>
          <p:nvPr>
            <p:ph sz="half" idx="2" hasCustomPrompt="1"/>
          </p:nvPr>
        </p:nvSpPr>
        <p:spPr>
          <a:xfrm>
            <a:off x="4706754" y="1437651"/>
            <a:ext cx="3835261"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dirty="0"/>
              <a:t>Basic text</a:t>
            </a:r>
          </a:p>
          <a:p>
            <a:pPr lvl="1"/>
            <a:r>
              <a:rPr lang="it-IT" dirty="0"/>
              <a:t>Text in CAPITAL LETTERS</a:t>
            </a:r>
          </a:p>
          <a:p>
            <a:pPr lvl="2"/>
            <a:r>
              <a:rPr lang="it-IT" dirty="0"/>
              <a:t>Basic green text</a:t>
            </a:r>
          </a:p>
          <a:p>
            <a:pPr lvl="3"/>
            <a:r>
              <a:rPr lang="it-IT" dirty="0"/>
              <a:t>First </a:t>
            </a:r>
            <a:r>
              <a:rPr lang="it-IT" dirty="0" err="1"/>
              <a:t>bullet</a:t>
            </a:r>
            <a:r>
              <a:rPr lang="it-IT" dirty="0"/>
              <a:t> </a:t>
            </a:r>
            <a:r>
              <a:rPr lang="it-IT" dirty="0" err="1"/>
              <a:t>point</a:t>
            </a:r>
            <a:r>
              <a:rPr lang="it-IT" dirty="0"/>
              <a:t> text</a:t>
            </a:r>
          </a:p>
          <a:p>
            <a:pPr lvl="4"/>
            <a:r>
              <a:rPr lang="it-IT" dirty="0"/>
              <a:t>Second </a:t>
            </a:r>
            <a:r>
              <a:rPr lang="it-IT" dirty="0" err="1"/>
              <a:t>bullet</a:t>
            </a:r>
            <a:r>
              <a:rPr lang="it-IT" dirty="0"/>
              <a:t> </a:t>
            </a:r>
            <a:r>
              <a:rPr lang="it-IT" dirty="0" err="1"/>
              <a:t>point</a:t>
            </a:r>
            <a:r>
              <a:rPr lang="it-IT" dirty="0"/>
              <a:t> text</a:t>
            </a:r>
          </a:p>
          <a:p>
            <a:pPr lvl="5"/>
            <a:r>
              <a:rPr lang="it-IT" dirty="0"/>
              <a:t>Third </a:t>
            </a:r>
            <a:r>
              <a:rPr lang="it-IT" dirty="0" err="1"/>
              <a:t>bullet</a:t>
            </a:r>
            <a:r>
              <a:rPr lang="it-IT" dirty="0"/>
              <a:t> </a:t>
            </a:r>
            <a:r>
              <a:rPr lang="it-IT" dirty="0" err="1"/>
              <a:t>point</a:t>
            </a:r>
            <a:r>
              <a:rPr lang="it-IT" dirty="0"/>
              <a:t> text</a:t>
            </a:r>
          </a:p>
          <a:p>
            <a:pPr lvl="6"/>
            <a:r>
              <a:rPr lang="it-IT" dirty="0"/>
              <a:t>First </a:t>
            </a:r>
            <a:r>
              <a:rPr lang="it-IT" dirty="0" err="1"/>
              <a:t>numbered</a:t>
            </a:r>
            <a:r>
              <a:rPr lang="it-IT" dirty="0"/>
              <a:t> text</a:t>
            </a:r>
          </a:p>
          <a:p>
            <a:pPr lvl="7"/>
            <a:r>
              <a:rPr lang="it-IT" dirty="0"/>
              <a:t>Second </a:t>
            </a:r>
            <a:r>
              <a:rPr lang="it-IT" dirty="0" err="1"/>
              <a:t>numbered</a:t>
            </a:r>
            <a:r>
              <a:rPr lang="it-IT" dirty="0"/>
              <a:t> text</a:t>
            </a:r>
          </a:p>
          <a:p>
            <a:pPr lvl="8"/>
            <a:r>
              <a:rPr lang="it-IT" dirty="0"/>
              <a:t>Third </a:t>
            </a:r>
            <a:r>
              <a:rPr lang="it-IT" dirty="0" err="1"/>
              <a:t>numbered</a:t>
            </a:r>
            <a:r>
              <a:rPr lang="it-IT" dirty="0"/>
              <a:t> text</a:t>
            </a:r>
            <a:endParaRPr lang="en-US" dirty="0"/>
          </a:p>
        </p:txBody>
      </p:sp>
      <p:sp>
        <p:nvSpPr>
          <p:cNvPr id="15" name="Title 1"/>
          <p:cNvSpPr>
            <a:spLocks noGrp="1"/>
          </p:cNvSpPr>
          <p:nvPr>
            <p:ph type="title" hasCustomPrompt="1"/>
          </p:nvPr>
        </p:nvSpPr>
        <p:spPr>
          <a:xfrm>
            <a:off x="573852" y="408191"/>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dirty="0"/>
              <a:t>INSERT YOUR TITLE HERE</a:t>
            </a:r>
            <a:endParaRPr lang="en-US" dirty="0"/>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7" name="Subtitle 2"/>
          <p:cNvSpPr>
            <a:spLocks noGrp="1"/>
          </p:cNvSpPr>
          <p:nvPr>
            <p:ph type="subTitle" idx="10"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spTree>
    <p:extLst>
      <p:ext uri="{BB962C8B-B14F-4D97-AF65-F5344CB8AC3E}">
        <p14:creationId xmlns:p14="http://schemas.microsoft.com/office/powerpoint/2010/main" val="1034301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INGLE Image on Black Background">
    <p:spTree>
      <p:nvGrpSpPr>
        <p:cNvPr id="1" name=""/>
        <p:cNvGrpSpPr/>
        <p:nvPr/>
      </p:nvGrpSpPr>
      <p:grpSpPr>
        <a:xfrm>
          <a:off x="0" y="0"/>
          <a:ext cx="0" cy="0"/>
          <a:chOff x="0" y="0"/>
          <a:chExt cx="0" cy="0"/>
        </a:xfrm>
      </p:grpSpPr>
      <p:sp>
        <p:nvSpPr>
          <p:cNvPr id="13" name="Rettangolo 6"/>
          <p:cNvSpPr/>
          <p:nvPr userDrawn="1"/>
        </p:nvSpPr>
        <p:spPr>
          <a:xfrm>
            <a:off x="0" y="0"/>
            <a:ext cx="9144000" cy="1249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5" name="Title 1"/>
          <p:cNvSpPr>
            <a:spLocks noGrp="1"/>
          </p:cNvSpPr>
          <p:nvPr>
            <p:ph type="title" hasCustomPrompt="1"/>
          </p:nvPr>
        </p:nvSpPr>
        <p:spPr>
          <a:xfrm>
            <a:off x="573852" y="408191"/>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dirty="0"/>
              <a:t>INSERT YOUR TITLE HERE</a:t>
            </a:r>
            <a:endParaRPr lang="en-US" dirty="0"/>
          </a:p>
        </p:txBody>
      </p:sp>
      <p:sp>
        <p:nvSpPr>
          <p:cNvPr id="12" name="Segnaposto immagine 5"/>
          <p:cNvSpPr>
            <a:spLocks noGrp="1"/>
          </p:cNvSpPr>
          <p:nvPr>
            <p:ph type="pic" sz="quarter" idx="11"/>
          </p:nvPr>
        </p:nvSpPr>
        <p:spPr>
          <a:xfrm>
            <a:off x="0" y="1250541"/>
            <a:ext cx="9144000" cy="2629091"/>
          </a:xfrm>
        </p:spPr>
        <p:txBody>
          <a:bodyPr/>
          <a:lstStyle/>
          <a:p>
            <a:r>
              <a:rPr lang="en-GB"/>
              <a:t>Click icon to add picture</a:t>
            </a:r>
            <a:endParaRPr lang="it-IT" dirty="0"/>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7" name="Subtitle 2"/>
          <p:cNvSpPr>
            <a:spLocks noGrp="1"/>
          </p:cNvSpPr>
          <p:nvPr>
            <p:ph type="subTitle" idx="12"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sp>
        <p:nvSpPr>
          <p:cNvPr id="10" name="Rettangolo 7"/>
          <p:cNvSpPr/>
          <p:nvPr userDrawn="1"/>
        </p:nvSpPr>
        <p:spPr>
          <a:xfrm>
            <a:off x="0" y="3879632"/>
            <a:ext cx="9144000" cy="1249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pic>
        <p:nvPicPr>
          <p:cNvPr id="11"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7"/>
            <a:ext cx="217532" cy="217532"/>
          </a:xfrm>
          <a:prstGeom prst="rect">
            <a:avLst/>
          </a:prstGeom>
        </p:spPr>
      </p:pic>
    </p:spTree>
    <p:extLst>
      <p:ext uri="{BB962C8B-B14F-4D97-AF65-F5344CB8AC3E}">
        <p14:creationId xmlns:p14="http://schemas.microsoft.com/office/powerpoint/2010/main" val="2997021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NSERT Image + side tex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73853" y="1437651"/>
            <a:ext cx="2994538"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dirty="0"/>
              <a:t>Basic text</a:t>
            </a:r>
          </a:p>
          <a:p>
            <a:pPr lvl="1"/>
            <a:r>
              <a:rPr lang="it-IT" dirty="0"/>
              <a:t>Text in CAPITAL LETTERS</a:t>
            </a:r>
          </a:p>
          <a:p>
            <a:pPr lvl="2"/>
            <a:r>
              <a:rPr lang="it-IT" dirty="0"/>
              <a:t>Basic green text</a:t>
            </a:r>
          </a:p>
          <a:p>
            <a:pPr lvl="3"/>
            <a:r>
              <a:rPr lang="it-IT" dirty="0"/>
              <a:t>First </a:t>
            </a:r>
            <a:r>
              <a:rPr lang="it-IT" dirty="0" err="1"/>
              <a:t>bullet</a:t>
            </a:r>
            <a:r>
              <a:rPr lang="it-IT" dirty="0"/>
              <a:t> </a:t>
            </a:r>
            <a:r>
              <a:rPr lang="it-IT" dirty="0" err="1"/>
              <a:t>point</a:t>
            </a:r>
            <a:r>
              <a:rPr lang="it-IT" dirty="0"/>
              <a:t> text</a:t>
            </a:r>
          </a:p>
          <a:p>
            <a:pPr lvl="4"/>
            <a:r>
              <a:rPr lang="it-IT" dirty="0"/>
              <a:t>Second </a:t>
            </a:r>
            <a:r>
              <a:rPr lang="it-IT" dirty="0" err="1"/>
              <a:t>bullet</a:t>
            </a:r>
            <a:r>
              <a:rPr lang="it-IT" dirty="0"/>
              <a:t> </a:t>
            </a:r>
            <a:r>
              <a:rPr lang="it-IT" dirty="0" err="1"/>
              <a:t>point</a:t>
            </a:r>
            <a:r>
              <a:rPr lang="it-IT" dirty="0"/>
              <a:t> text</a:t>
            </a:r>
          </a:p>
          <a:p>
            <a:pPr lvl="5"/>
            <a:r>
              <a:rPr lang="it-IT" dirty="0"/>
              <a:t>Third </a:t>
            </a:r>
            <a:r>
              <a:rPr lang="it-IT" dirty="0" err="1"/>
              <a:t>bullet</a:t>
            </a:r>
            <a:r>
              <a:rPr lang="it-IT" dirty="0"/>
              <a:t> </a:t>
            </a:r>
            <a:r>
              <a:rPr lang="it-IT" dirty="0" err="1"/>
              <a:t>point</a:t>
            </a:r>
            <a:r>
              <a:rPr lang="it-IT" dirty="0"/>
              <a:t> text</a:t>
            </a:r>
          </a:p>
          <a:p>
            <a:pPr lvl="6"/>
            <a:r>
              <a:rPr lang="it-IT" dirty="0"/>
              <a:t>First </a:t>
            </a:r>
            <a:r>
              <a:rPr lang="it-IT" dirty="0" err="1"/>
              <a:t>numbered</a:t>
            </a:r>
            <a:r>
              <a:rPr lang="it-IT" dirty="0"/>
              <a:t> text</a:t>
            </a:r>
          </a:p>
          <a:p>
            <a:pPr lvl="7"/>
            <a:r>
              <a:rPr lang="it-IT" dirty="0"/>
              <a:t>Second </a:t>
            </a:r>
            <a:r>
              <a:rPr lang="it-IT" dirty="0" err="1"/>
              <a:t>numbered</a:t>
            </a:r>
            <a:r>
              <a:rPr lang="it-IT" dirty="0"/>
              <a:t> text</a:t>
            </a:r>
          </a:p>
          <a:p>
            <a:pPr lvl="8"/>
            <a:r>
              <a:rPr lang="it-IT" dirty="0"/>
              <a:t>Third </a:t>
            </a:r>
            <a:r>
              <a:rPr lang="it-IT" dirty="0" err="1"/>
              <a:t>numbered</a:t>
            </a:r>
            <a:r>
              <a:rPr lang="it-IT" dirty="0"/>
              <a:t> text</a:t>
            </a:r>
            <a:endParaRPr lang="en-US" dirty="0"/>
          </a:p>
        </p:txBody>
      </p:sp>
      <p:sp>
        <p:nvSpPr>
          <p:cNvPr id="15" name="Title 1"/>
          <p:cNvSpPr>
            <a:spLocks noGrp="1"/>
          </p:cNvSpPr>
          <p:nvPr>
            <p:ph type="title" hasCustomPrompt="1"/>
          </p:nvPr>
        </p:nvSpPr>
        <p:spPr>
          <a:xfrm>
            <a:off x="573852" y="408191"/>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dirty="0"/>
              <a:t>INSERT YOUR TITLE HERE</a:t>
            </a:r>
            <a:endParaRPr lang="en-US" dirty="0"/>
          </a:p>
        </p:txBody>
      </p:sp>
      <p:sp>
        <p:nvSpPr>
          <p:cNvPr id="12" name="Segnaposto immagine 5"/>
          <p:cNvSpPr>
            <a:spLocks noGrp="1"/>
          </p:cNvSpPr>
          <p:nvPr>
            <p:ph type="pic" sz="quarter" idx="11"/>
          </p:nvPr>
        </p:nvSpPr>
        <p:spPr>
          <a:xfrm>
            <a:off x="4025590" y="1417013"/>
            <a:ext cx="5118410" cy="3036887"/>
          </a:xfrm>
        </p:spPr>
        <p:txBody>
          <a:bodyPr/>
          <a:lstStyle/>
          <a:p>
            <a:r>
              <a:rPr lang="en-GB"/>
              <a:t>Click icon to add picture</a:t>
            </a:r>
            <a:endParaRPr lang="it-IT" dirty="0"/>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7" name="Subtitle 2"/>
          <p:cNvSpPr>
            <a:spLocks noGrp="1"/>
          </p:cNvSpPr>
          <p:nvPr>
            <p:ph type="subTitle" idx="12"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spTree>
    <p:extLst>
      <p:ext uri="{BB962C8B-B14F-4D97-AF65-F5344CB8AC3E}">
        <p14:creationId xmlns:p14="http://schemas.microsoft.com/office/powerpoint/2010/main" val="292532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SERT Gradient + side tex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73853" y="1437651"/>
            <a:ext cx="2994538"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dirty="0"/>
              <a:t>Basic text</a:t>
            </a:r>
          </a:p>
          <a:p>
            <a:pPr lvl="1"/>
            <a:r>
              <a:rPr lang="it-IT" dirty="0"/>
              <a:t>Text in CAPITAL </a:t>
            </a:r>
            <a:r>
              <a:rPr lang="it-IT" dirty="0" err="1"/>
              <a:t>LeTTERS</a:t>
            </a:r>
            <a:endParaRPr lang="it-IT" dirty="0"/>
          </a:p>
          <a:p>
            <a:pPr lvl="2"/>
            <a:r>
              <a:rPr lang="it-IT" dirty="0"/>
              <a:t>Basic green text</a:t>
            </a:r>
          </a:p>
          <a:p>
            <a:pPr lvl="3"/>
            <a:r>
              <a:rPr lang="it-IT" dirty="0"/>
              <a:t>First </a:t>
            </a:r>
            <a:r>
              <a:rPr lang="it-IT" dirty="0" err="1"/>
              <a:t>bullet</a:t>
            </a:r>
            <a:r>
              <a:rPr lang="it-IT" dirty="0"/>
              <a:t> </a:t>
            </a:r>
            <a:r>
              <a:rPr lang="it-IT" dirty="0" err="1"/>
              <a:t>point</a:t>
            </a:r>
            <a:r>
              <a:rPr lang="it-IT" dirty="0"/>
              <a:t> text</a:t>
            </a:r>
          </a:p>
          <a:p>
            <a:pPr lvl="4"/>
            <a:r>
              <a:rPr lang="it-IT" dirty="0"/>
              <a:t>Second </a:t>
            </a:r>
            <a:r>
              <a:rPr lang="it-IT" dirty="0" err="1"/>
              <a:t>bullet</a:t>
            </a:r>
            <a:r>
              <a:rPr lang="it-IT" dirty="0"/>
              <a:t> </a:t>
            </a:r>
            <a:r>
              <a:rPr lang="it-IT" dirty="0" err="1"/>
              <a:t>point</a:t>
            </a:r>
            <a:r>
              <a:rPr lang="it-IT" dirty="0"/>
              <a:t> text</a:t>
            </a:r>
          </a:p>
          <a:p>
            <a:pPr lvl="5"/>
            <a:r>
              <a:rPr lang="it-IT" dirty="0"/>
              <a:t>Third </a:t>
            </a:r>
            <a:r>
              <a:rPr lang="it-IT" dirty="0" err="1"/>
              <a:t>bullet</a:t>
            </a:r>
            <a:r>
              <a:rPr lang="it-IT" dirty="0"/>
              <a:t> </a:t>
            </a:r>
            <a:r>
              <a:rPr lang="it-IT" dirty="0" err="1"/>
              <a:t>point</a:t>
            </a:r>
            <a:r>
              <a:rPr lang="it-IT" dirty="0"/>
              <a:t> text</a:t>
            </a:r>
          </a:p>
          <a:p>
            <a:pPr lvl="6"/>
            <a:r>
              <a:rPr lang="it-IT" dirty="0"/>
              <a:t>First </a:t>
            </a:r>
            <a:r>
              <a:rPr lang="it-IT" dirty="0" err="1"/>
              <a:t>numbered</a:t>
            </a:r>
            <a:r>
              <a:rPr lang="it-IT" dirty="0"/>
              <a:t> text</a:t>
            </a:r>
          </a:p>
          <a:p>
            <a:pPr lvl="7"/>
            <a:r>
              <a:rPr lang="it-IT" dirty="0"/>
              <a:t>Second </a:t>
            </a:r>
            <a:r>
              <a:rPr lang="it-IT" dirty="0" err="1"/>
              <a:t>numbered</a:t>
            </a:r>
            <a:r>
              <a:rPr lang="it-IT" dirty="0"/>
              <a:t> text</a:t>
            </a:r>
          </a:p>
          <a:p>
            <a:pPr lvl="8"/>
            <a:r>
              <a:rPr lang="it-IT" dirty="0"/>
              <a:t>Third </a:t>
            </a:r>
            <a:r>
              <a:rPr lang="it-IT" dirty="0" err="1"/>
              <a:t>numbered</a:t>
            </a:r>
            <a:r>
              <a:rPr lang="it-IT" dirty="0"/>
              <a:t> text</a:t>
            </a:r>
            <a:endParaRPr lang="en-US" dirty="0"/>
          </a:p>
        </p:txBody>
      </p:sp>
      <p:sp>
        <p:nvSpPr>
          <p:cNvPr id="15" name="Title 1"/>
          <p:cNvSpPr>
            <a:spLocks noGrp="1"/>
          </p:cNvSpPr>
          <p:nvPr>
            <p:ph type="title" hasCustomPrompt="1"/>
          </p:nvPr>
        </p:nvSpPr>
        <p:spPr>
          <a:xfrm>
            <a:off x="573852" y="408191"/>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dirty="0"/>
              <a:t>INSERT YOUR TITLE HERE</a:t>
            </a:r>
            <a:endParaRPr lang="en-US" dirty="0"/>
          </a:p>
        </p:txBody>
      </p:sp>
      <p:pic>
        <p:nvPicPr>
          <p:cNvPr id="2" name="Immagine 1" descr="Reply Green 0.png"/>
          <p:cNvPicPr>
            <a:picLocks noChangeAspect="1"/>
          </p:cNvPicPr>
          <p:nvPr userDrawn="1"/>
        </p:nvPicPr>
        <p:blipFill rotWithShape="1">
          <a:blip r:embed="rId2">
            <a:extLst>
              <a:ext uri="{28A0092B-C50C-407E-A947-70E740481C1C}">
                <a14:useLocalDpi xmlns:a14="http://schemas.microsoft.com/office/drawing/2010/main" val="0"/>
              </a:ext>
            </a:extLst>
          </a:blip>
          <a:srcRect r="5278"/>
          <a:stretch/>
        </p:blipFill>
        <p:spPr>
          <a:xfrm>
            <a:off x="4029395" y="1416656"/>
            <a:ext cx="5114605" cy="3037283"/>
          </a:xfrm>
          <a:prstGeom prst="rect">
            <a:avLst/>
          </a:prstGeom>
        </p:spPr>
      </p:pic>
      <p:sp>
        <p:nvSpPr>
          <p:cNvPr id="12" name="Content Placeholder 2"/>
          <p:cNvSpPr>
            <a:spLocks noGrp="1"/>
          </p:cNvSpPr>
          <p:nvPr>
            <p:ph sz="half" idx="11" hasCustomPrompt="1"/>
          </p:nvPr>
        </p:nvSpPr>
        <p:spPr>
          <a:xfrm>
            <a:off x="4352740" y="2858737"/>
            <a:ext cx="4616786" cy="619319"/>
          </a:xfrm>
        </p:spPr>
        <p:txBody>
          <a:bodyPr anchor="t"/>
          <a:lstStyle>
            <a:lvl1pPr>
              <a:defRPr sz="4000" cap="all" spc="-100">
                <a:solidFill>
                  <a:schemeClr val="tx1"/>
                </a:solidFill>
                <a:latin typeface="Arial Black"/>
                <a:cs typeface="Arial Black"/>
              </a:defRPr>
            </a:lvl1pPr>
            <a:lvl2pPr>
              <a:defRPr sz="4000">
                <a:latin typeface="Arial Black"/>
                <a:cs typeface="Arial Black"/>
              </a:defRPr>
            </a:lvl2pPr>
            <a:lvl3pPr>
              <a:defRPr sz="4000">
                <a:latin typeface="Arial Black"/>
                <a:cs typeface="Arial Black"/>
              </a:defRPr>
            </a:lvl3pPr>
            <a:lvl4pPr>
              <a:defRPr sz="4000">
                <a:latin typeface="Arial Black"/>
                <a:cs typeface="Arial Black"/>
              </a:defRPr>
            </a:lvl4pPr>
            <a:lvl5pPr>
              <a:defRPr sz="4000">
                <a:latin typeface="Arial Black"/>
                <a:cs typeface="Arial Black"/>
              </a:defRPr>
            </a:lvl5pPr>
            <a:lvl6pPr>
              <a:defRPr sz="4000">
                <a:latin typeface="Arial Black"/>
                <a:cs typeface="Arial Black"/>
              </a:defRPr>
            </a:lvl6pPr>
            <a:lvl7pPr>
              <a:defRPr sz="4000">
                <a:latin typeface="Arial Black"/>
                <a:cs typeface="Arial Black"/>
              </a:defRPr>
            </a:lvl7pPr>
            <a:lvl8pPr>
              <a:defRPr sz="4000">
                <a:latin typeface="Arial Black"/>
                <a:cs typeface="Arial Black"/>
              </a:defRPr>
            </a:lvl8pPr>
            <a:lvl9pPr>
              <a:defRPr sz="4000">
                <a:latin typeface="Arial Black"/>
                <a:cs typeface="Arial Black"/>
              </a:defRPr>
            </a:lvl9pPr>
          </a:lstStyle>
          <a:p>
            <a:pPr lvl="0"/>
            <a:r>
              <a:rPr lang="en-US" dirty="0"/>
              <a:t>TEXT</a:t>
            </a:r>
          </a:p>
        </p:txBody>
      </p:sp>
      <p:sp>
        <p:nvSpPr>
          <p:cNvPr id="13" name="Content Placeholder 2"/>
          <p:cNvSpPr>
            <a:spLocks noGrp="1"/>
          </p:cNvSpPr>
          <p:nvPr>
            <p:ph sz="half" idx="12" hasCustomPrompt="1"/>
          </p:nvPr>
        </p:nvSpPr>
        <p:spPr>
          <a:xfrm>
            <a:off x="4352740" y="1903019"/>
            <a:ext cx="4616786" cy="320156"/>
          </a:xfrm>
        </p:spPr>
        <p:txBody>
          <a:bodyPr/>
          <a:lstStyle>
            <a:lvl1pPr>
              <a:defRPr sz="1600">
                <a:solidFill>
                  <a:schemeClr val="tx1"/>
                </a:solidFill>
              </a:defRPr>
            </a:lvl1pPr>
            <a:lvl2pPr marL="0" indent="0">
              <a:buFont typeface="+mj-lt"/>
              <a:buNone/>
              <a:defRPr sz="1400">
                <a:solidFill>
                  <a:schemeClr val="tx1"/>
                </a:solidFill>
              </a:defRPr>
            </a:lvl2pPr>
            <a:lvl3pPr marL="0" indent="0">
              <a:buFont typeface="+mj-lt"/>
              <a:buNone/>
              <a:defRPr sz="1400">
                <a:solidFill>
                  <a:schemeClr val="tx1"/>
                </a:solidFill>
              </a:defRPr>
            </a:lvl3pPr>
            <a:lvl4pPr marL="0" indent="0">
              <a:buFont typeface="+mj-lt"/>
              <a:buNone/>
              <a:defRPr sz="1400">
                <a:solidFill>
                  <a:schemeClr val="tx1"/>
                </a:solidFill>
              </a:defRPr>
            </a:lvl4pPr>
            <a:lvl5pPr marL="0" indent="0">
              <a:buFont typeface="+mj-lt"/>
              <a:buNone/>
              <a:defRPr sz="1400">
                <a:solidFill>
                  <a:schemeClr val="tx1"/>
                </a:solidFill>
              </a:defRPr>
            </a:lvl5pPr>
            <a:lvl6pPr marL="0" indent="0">
              <a:buFont typeface="+mj-lt"/>
              <a:buNone/>
              <a:defRPr sz="1400">
                <a:solidFill>
                  <a:schemeClr val="tx1"/>
                </a:solidFill>
              </a:defRPr>
            </a:lvl6pPr>
            <a:lvl7pPr marL="0" indent="0">
              <a:buFont typeface="+mj-lt"/>
              <a:buNone/>
              <a:defRPr sz="1400">
                <a:solidFill>
                  <a:schemeClr val="tx1"/>
                </a:solidFill>
              </a:defRPr>
            </a:lvl7pPr>
            <a:lvl8pPr marL="0" indent="0">
              <a:buFont typeface="+mj-lt"/>
              <a:buNone/>
              <a:defRPr sz="1400">
                <a:solidFill>
                  <a:schemeClr val="tx1"/>
                </a:solidFill>
              </a:defRPr>
            </a:lvl8pPr>
            <a:lvl9pPr marL="0" indent="0">
              <a:buFont typeface="+mj-lt"/>
              <a:buNone/>
              <a:defRPr sz="1400">
                <a:solidFill>
                  <a:schemeClr val="tx1"/>
                </a:solidFill>
              </a:defRPr>
            </a:lvl9pPr>
          </a:lstStyle>
          <a:p>
            <a:pPr lvl="0"/>
            <a:r>
              <a:rPr lang="it-IT" dirty="0"/>
              <a:t>Basic text</a:t>
            </a:r>
          </a:p>
        </p:txBody>
      </p:sp>
      <p:pic>
        <p:nvPicPr>
          <p:cNvPr id="10"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8"/>
            <a:ext cx="217532" cy="217532"/>
          </a:xfrm>
          <a:prstGeom prst="rect">
            <a:avLst/>
          </a:prstGeom>
        </p:spPr>
      </p:pic>
      <p:sp>
        <p:nvSpPr>
          <p:cNvPr id="9" name="Subtitle 2"/>
          <p:cNvSpPr>
            <a:spLocks noGrp="1"/>
          </p:cNvSpPr>
          <p:nvPr>
            <p:ph type="subTitle" idx="13" hasCustomPrompt="1"/>
          </p:nvPr>
        </p:nvSpPr>
        <p:spPr>
          <a:xfrm>
            <a:off x="573852" y="753750"/>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spTree>
    <p:extLst>
      <p:ext uri="{BB962C8B-B14F-4D97-AF65-F5344CB8AC3E}">
        <p14:creationId xmlns:p14="http://schemas.microsoft.com/office/powerpoint/2010/main" val="2756235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128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End Cover">
    <p:spTree>
      <p:nvGrpSpPr>
        <p:cNvPr id="1" name=""/>
        <p:cNvGrpSpPr/>
        <p:nvPr/>
      </p:nvGrpSpPr>
      <p:grpSpPr>
        <a:xfrm>
          <a:off x="0" y="0"/>
          <a:ext cx="0" cy="0"/>
          <a:chOff x="0" y="0"/>
          <a:chExt cx="0" cy="0"/>
        </a:xfrm>
      </p:grpSpPr>
      <p:pic>
        <p:nvPicPr>
          <p:cNvPr id="6" name="Immagine 5"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10" name="Title 1"/>
          <p:cNvSpPr>
            <a:spLocks noGrp="1"/>
          </p:cNvSpPr>
          <p:nvPr>
            <p:ph type="ctrTitle" hasCustomPrompt="1"/>
          </p:nvPr>
        </p:nvSpPr>
        <p:spPr>
          <a:xfrm>
            <a:off x="1156023" y="2010229"/>
            <a:ext cx="7003440" cy="1321697"/>
          </a:xfrm>
        </p:spPr>
        <p:txBody>
          <a:bodyPr anchor="ctr"/>
          <a:lstStyle>
            <a:lvl1pPr>
              <a:lnSpc>
                <a:spcPct val="80000"/>
              </a:lnSpc>
              <a:defRPr lang="en-US" sz="6000" i="0" u="none" kern="1200" cap="all" spc="-100" baseline="0" dirty="0">
                <a:solidFill>
                  <a:schemeClr val="tx1"/>
                </a:solidFill>
                <a:latin typeface="Arial Black"/>
                <a:ea typeface="+mj-ea"/>
                <a:cs typeface="Arial Black"/>
              </a:defRPr>
            </a:lvl1pPr>
          </a:lstStyle>
          <a:p>
            <a:r>
              <a:rPr lang="it-IT" dirty="0" err="1"/>
              <a:t>Insert</a:t>
            </a:r>
            <a:r>
              <a:rPr lang="it-IT" dirty="0"/>
              <a:t> </a:t>
            </a:r>
            <a:r>
              <a:rPr lang="it-IT" dirty="0" err="1"/>
              <a:t>your</a:t>
            </a:r>
            <a:r>
              <a:rPr lang="it-IT" dirty="0"/>
              <a:t> </a:t>
            </a:r>
            <a:r>
              <a:rPr lang="it-IT" dirty="0" err="1"/>
              <a:t>title</a:t>
            </a:r>
            <a:r>
              <a:rPr lang="it-IT" dirty="0"/>
              <a:t> </a:t>
            </a:r>
            <a:r>
              <a:rPr lang="it-IT" dirty="0" err="1"/>
              <a:t>here</a:t>
            </a:r>
            <a:endParaRPr lang="en-US" dirty="0"/>
          </a:p>
        </p:txBody>
      </p:sp>
      <p:sp>
        <p:nvSpPr>
          <p:cNvPr id="7" name="Subtitle 2"/>
          <p:cNvSpPr>
            <a:spLocks noGrp="1"/>
          </p:cNvSpPr>
          <p:nvPr>
            <p:ph type="subTitle" idx="1" hasCustomPrompt="1"/>
          </p:nvPr>
        </p:nvSpPr>
        <p:spPr>
          <a:xfrm>
            <a:off x="1156022" y="3375892"/>
            <a:ext cx="7003441" cy="328820"/>
          </a:xfrm>
        </p:spPr>
        <p:txBody>
          <a:bodyPr lIns="0" bIns="0" anchor="t">
            <a:noAutofit/>
          </a:bodyPr>
          <a:lstStyle>
            <a:lvl1pPr marL="0" indent="0" algn="ctr">
              <a:buNone/>
              <a:defRPr sz="1800" b="0" cap="none">
                <a:solidFill>
                  <a:schemeClr val="tx1"/>
                </a:solidFill>
                <a:latin typeface="+mn-lt"/>
                <a:cs typeface="Arial Blac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err="1"/>
              <a:t>Insert</a:t>
            </a:r>
            <a:r>
              <a:rPr lang="it-IT" dirty="0"/>
              <a:t> </a:t>
            </a:r>
            <a:r>
              <a:rPr lang="it-IT" dirty="0" err="1"/>
              <a:t>your</a:t>
            </a:r>
            <a:r>
              <a:rPr lang="it-IT" dirty="0"/>
              <a:t> </a:t>
            </a:r>
            <a:r>
              <a:rPr lang="it-IT" dirty="0" err="1"/>
              <a:t>subtitle</a:t>
            </a:r>
            <a:r>
              <a:rPr lang="it-IT" dirty="0"/>
              <a:t> </a:t>
            </a:r>
            <a:r>
              <a:rPr lang="it-IT" dirty="0" err="1"/>
              <a:t>here</a:t>
            </a:r>
            <a:endParaRPr lang="en-US" dirty="0"/>
          </a:p>
        </p:txBody>
      </p:sp>
      <p:pic>
        <p:nvPicPr>
          <p:cNvPr id="9" name="Bild 6" descr="Unbenannt-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88300" y="4723084"/>
            <a:ext cx="901701" cy="241840"/>
          </a:xfrm>
          <a:prstGeom prst="rect">
            <a:avLst/>
          </a:prstGeom>
        </p:spPr>
      </p:pic>
    </p:spTree>
    <p:extLst>
      <p:ext uri="{BB962C8B-B14F-4D97-AF65-F5344CB8AC3E}">
        <p14:creationId xmlns:p14="http://schemas.microsoft.com/office/powerpoint/2010/main" val="1427941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0" tIns="45720" rIns="91440" bIns="0" rtlCol="0" anchor="t">
            <a:noAutofit/>
          </a:bodyPr>
          <a:lstStyle/>
          <a:p>
            <a:r>
              <a:rPr lang="it-IT" dirty="0"/>
              <a:t>CLICK TO CHANGE STYLE</a:t>
            </a:r>
            <a:endParaRPr lang="en-US" dirty="0"/>
          </a:p>
        </p:txBody>
      </p:sp>
      <p:sp>
        <p:nvSpPr>
          <p:cNvPr id="3" name="Text Placeholder 2"/>
          <p:cNvSpPr>
            <a:spLocks noGrp="1"/>
          </p:cNvSpPr>
          <p:nvPr>
            <p:ph type="body" idx="1"/>
          </p:nvPr>
        </p:nvSpPr>
        <p:spPr>
          <a:xfrm>
            <a:off x="457200" y="1076782"/>
            <a:ext cx="8229600" cy="3394472"/>
          </a:xfrm>
          <a:prstGeom prst="rect">
            <a:avLst/>
          </a:prstGeom>
        </p:spPr>
        <p:txBody>
          <a:bodyPr vert="horz" lIns="0" tIns="0" rIns="0" bIns="0" rtlCol="0">
            <a:noAutofit/>
          </a:bodyPr>
          <a:lstStyle/>
          <a:p>
            <a:pPr lvl="0"/>
            <a:r>
              <a:rPr lang="it-IT" dirty="0"/>
              <a:t>Basic text</a:t>
            </a:r>
          </a:p>
          <a:p>
            <a:pPr lvl="1"/>
            <a:r>
              <a:rPr lang="it-IT" dirty="0"/>
              <a:t>Text in CAPITAL </a:t>
            </a:r>
            <a:r>
              <a:rPr lang="it-IT" dirty="0" err="1"/>
              <a:t>LeTTERS</a:t>
            </a:r>
            <a:endParaRPr lang="it-IT" dirty="0"/>
          </a:p>
          <a:p>
            <a:pPr lvl="3"/>
            <a:r>
              <a:rPr lang="it-IT" dirty="0"/>
              <a:t>First </a:t>
            </a:r>
            <a:r>
              <a:rPr lang="it-IT" dirty="0" err="1"/>
              <a:t>bullet</a:t>
            </a:r>
            <a:r>
              <a:rPr lang="it-IT" dirty="0"/>
              <a:t> </a:t>
            </a:r>
            <a:r>
              <a:rPr lang="it-IT" dirty="0" err="1"/>
              <a:t>point</a:t>
            </a:r>
            <a:r>
              <a:rPr lang="it-IT" dirty="0"/>
              <a:t> text</a:t>
            </a:r>
          </a:p>
          <a:p>
            <a:pPr lvl="4"/>
            <a:r>
              <a:rPr lang="it-IT" dirty="0"/>
              <a:t>Second </a:t>
            </a:r>
            <a:r>
              <a:rPr lang="it-IT" dirty="0" err="1"/>
              <a:t>bullet</a:t>
            </a:r>
            <a:r>
              <a:rPr lang="it-IT" dirty="0"/>
              <a:t> </a:t>
            </a:r>
            <a:r>
              <a:rPr lang="it-IT" dirty="0" err="1"/>
              <a:t>point</a:t>
            </a:r>
            <a:r>
              <a:rPr lang="it-IT" dirty="0"/>
              <a:t> text</a:t>
            </a:r>
          </a:p>
          <a:p>
            <a:pPr lvl="5"/>
            <a:r>
              <a:rPr lang="it-IT" dirty="0"/>
              <a:t>Third </a:t>
            </a:r>
            <a:r>
              <a:rPr lang="it-IT" dirty="0" err="1"/>
              <a:t>bullet</a:t>
            </a:r>
            <a:r>
              <a:rPr lang="it-IT" dirty="0"/>
              <a:t> </a:t>
            </a:r>
            <a:r>
              <a:rPr lang="it-IT" dirty="0" err="1"/>
              <a:t>point</a:t>
            </a:r>
            <a:r>
              <a:rPr lang="it-IT" dirty="0"/>
              <a:t> text</a:t>
            </a:r>
          </a:p>
          <a:p>
            <a:pPr marL="514350" lvl="6" indent="-514350" algn="l" defTabSz="457200" rtl="0" eaLnBrk="1" latinLnBrk="0" hangingPunct="1">
              <a:lnSpc>
                <a:spcPct val="150000"/>
              </a:lnSpc>
              <a:spcBef>
                <a:spcPts val="600"/>
              </a:spcBef>
              <a:buClr>
                <a:schemeClr val="tx2"/>
              </a:buClr>
              <a:buSzPct val="130000"/>
              <a:buFont typeface="+mj-lt"/>
              <a:buAutoNum type="arabicPeriod"/>
            </a:pPr>
            <a:r>
              <a:rPr lang="it-IT" dirty="0"/>
              <a:t>First </a:t>
            </a:r>
            <a:r>
              <a:rPr lang="it-IT" dirty="0" err="1"/>
              <a:t>numbered</a:t>
            </a:r>
            <a:r>
              <a:rPr lang="it-IT" dirty="0"/>
              <a:t> text</a:t>
            </a:r>
          </a:p>
          <a:p>
            <a:pPr lvl="7"/>
            <a:r>
              <a:rPr lang="it-IT" dirty="0"/>
              <a:t>Second </a:t>
            </a:r>
            <a:r>
              <a:rPr lang="it-IT" dirty="0" err="1"/>
              <a:t>numbered</a:t>
            </a:r>
            <a:r>
              <a:rPr lang="it-IT" dirty="0"/>
              <a:t> text</a:t>
            </a:r>
          </a:p>
          <a:p>
            <a:pPr lvl="8"/>
            <a:r>
              <a:rPr lang="it-IT" dirty="0"/>
              <a:t>Third </a:t>
            </a:r>
            <a:r>
              <a:rPr lang="it-IT" dirty="0" err="1"/>
              <a:t>numbered</a:t>
            </a:r>
            <a:r>
              <a:rPr lang="it-IT" dirty="0"/>
              <a:t> text</a:t>
            </a:r>
            <a:endParaRPr lang="en-US" dirty="0"/>
          </a:p>
        </p:txBody>
      </p:sp>
    </p:spTree>
    <p:extLst>
      <p:ext uri="{BB962C8B-B14F-4D97-AF65-F5344CB8AC3E}">
        <p14:creationId xmlns:p14="http://schemas.microsoft.com/office/powerpoint/2010/main" val="2557711237"/>
      </p:ext>
    </p:extLst>
  </p:cSld>
  <p:clrMap bg1="dk1" tx1="lt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Lst>
  <p:hf sldNum="0" hdr="0" ftr="0" dt="0"/>
  <p:txStyles>
    <p:titleStyle>
      <a:lvl1pPr algn="ctr" defTabSz="914400" rtl="0" eaLnBrk="1" latinLnBrk="0" hangingPunct="1">
        <a:lnSpc>
          <a:spcPct val="80000"/>
        </a:lnSpc>
        <a:spcBef>
          <a:spcPct val="0"/>
        </a:spcBef>
        <a:buNone/>
        <a:defRPr sz="3200" kern="1200">
          <a:solidFill>
            <a:schemeClr val="tx1"/>
          </a:solidFill>
          <a:latin typeface="Arial Black" panose="020B0A04020102020204" pitchFamily="34" charset="0"/>
          <a:ea typeface="+mj-ea"/>
          <a:cs typeface="Arial Black" panose="020B0A04020102020204" pitchFamily="34" charset="0"/>
        </a:defRPr>
      </a:lvl1pPr>
    </p:titleStyle>
    <p:bodyStyle>
      <a:lvl1pPr marL="0" indent="0" algn="l" defTabSz="914400" rtl="0" eaLnBrk="1" latinLnBrk="0" hangingPunct="1">
        <a:lnSpc>
          <a:spcPct val="100000"/>
        </a:lnSpc>
        <a:spcBef>
          <a:spcPts val="600"/>
        </a:spcBef>
        <a:buFont typeface="Arial" pitchFamily="34" charset="0"/>
        <a:buNone/>
        <a:defRPr sz="1800" kern="1200" baseline="0">
          <a:solidFill>
            <a:schemeClr val="tx1"/>
          </a:solidFill>
          <a:latin typeface="+mn-lt"/>
          <a:ea typeface="+mn-ea"/>
          <a:cs typeface="+mn-cs"/>
        </a:defRPr>
      </a:lvl1pPr>
      <a:lvl2pPr marL="0" indent="0" algn="l" defTabSz="914400" rtl="0" eaLnBrk="1" latinLnBrk="0" hangingPunct="1">
        <a:lnSpc>
          <a:spcPct val="100000"/>
        </a:lnSpc>
        <a:spcBef>
          <a:spcPts val="1200"/>
        </a:spcBef>
        <a:spcAft>
          <a:spcPts val="600"/>
        </a:spcAft>
        <a:buFont typeface="Arial" pitchFamily="34" charset="0"/>
        <a:buNone/>
        <a:defRPr sz="1800" b="0" i="0" kern="1200" cap="all">
          <a:solidFill>
            <a:schemeClr val="tx2"/>
          </a:solidFill>
          <a:latin typeface="Arial"/>
          <a:ea typeface="+mn-ea"/>
          <a:cs typeface="Arial"/>
        </a:defRPr>
      </a:lvl2pPr>
      <a:lvl3pPr marL="0" indent="0" algn="l" defTabSz="914400" rtl="0" eaLnBrk="1" latinLnBrk="0" hangingPunct="1">
        <a:lnSpc>
          <a:spcPct val="120000"/>
        </a:lnSpc>
        <a:spcBef>
          <a:spcPts val="600"/>
        </a:spcBef>
        <a:buFont typeface="Arial" pitchFamily="34" charset="0"/>
        <a:buNone/>
        <a:defRPr sz="1400" b="0" i="0" kern="1200">
          <a:solidFill>
            <a:schemeClr val="tx2"/>
          </a:solidFill>
          <a:latin typeface="Arial"/>
          <a:ea typeface="+mn-ea"/>
          <a:cs typeface="Arial"/>
        </a:defRPr>
      </a:lvl3pPr>
      <a:lvl4pPr marL="180000" indent="-180000" algn="l" defTabSz="914400" rtl="0" eaLnBrk="1" latinLnBrk="0" hangingPunct="1">
        <a:lnSpc>
          <a:spcPct val="120000"/>
        </a:lnSpc>
        <a:spcBef>
          <a:spcPts val="600"/>
        </a:spcBef>
        <a:buClr>
          <a:schemeClr val="tx2"/>
        </a:buClr>
        <a:buSzPct val="130000"/>
        <a:buFont typeface="Wingdings" panose="05000000000000000000" pitchFamily="2" charset="2"/>
        <a:buChar char="§"/>
        <a:defRPr sz="1800" kern="1200">
          <a:solidFill>
            <a:schemeClr val="tx1"/>
          </a:solidFill>
          <a:latin typeface="+mn-lt"/>
          <a:ea typeface="+mn-ea"/>
          <a:cs typeface="+mn-cs"/>
        </a:defRPr>
      </a:lvl4pPr>
      <a:lvl5pPr marL="360000" indent="-180000" algn="l" defTabSz="914400" rtl="0" eaLnBrk="1" latinLnBrk="0" hangingPunct="1">
        <a:lnSpc>
          <a:spcPct val="120000"/>
        </a:lnSpc>
        <a:spcBef>
          <a:spcPts val="600"/>
        </a:spcBef>
        <a:buClr>
          <a:schemeClr val="tx2"/>
        </a:buClr>
        <a:buFont typeface="Wingdings" panose="05000000000000000000" pitchFamily="2" charset="2"/>
        <a:buChar char="§"/>
        <a:defRPr sz="1800" kern="1200">
          <a:solidFill>
            <a:schemeClr val="tx1"/>
          </a:solidFill>
          <a:latin typeface="+mn-lt"/>
          <a:ea typeface="+mn-ea"/>
          <a:cs typeface="+mn-cs"/>
        </a:defRPr>
      </a:lvl5pPr>
      <a:lvl6pPr marL="540000" indent="-180000" algn="l" defTabSz="914400" rtl="0" eaLnBrk="1" latinLnBrk="0" hangingPunct="1">
        <a:lnSpc>
          <a:spcPct val="120000"/>
        </a:lnSpc>
        <a:spcBef>
          <a:spcPts val="600"/>
        </a:spcBef>
        <a:buClr>
          <a:schemeClr val="tx2"/>
        </a:buClr>
        <a:buFont typeface="Wingdings" panose="05000000000000000000" pitchFamily="2" charset="2"/>
        <a:buChar char="§"/>
        <a:defRPr sz="1800" kern="1200">
          <a:solidFill>
            <a:schemeClr val="tx1"/>
          </a:solidFill>
          <a:latin typeface="+mn-lt"/>
          <a:ea typeface="+mn-ea"/>
          <a:cs typeface="+mn-cs"/>
        </a:defRPr>
      </a:lvl6pPr>
      <a:lvl7pPr marL="180000" indent="-180000" algn="l" defTabSz="914400" rtl="0" eaLnBrk="1" latinLnBrk="0" hangingPunct="1">
        <a:lnSpc>
          <a:spcPct val="120000"/>
        </a:lnSpc>
        <a:spcBef>
          <a:spcPts val="600"/>
        </a:spcBef>
        <a:buClr>
          <a:schemeClr val="tx2"/>
        </a:buClr>
        <a:buFont typeface="+mj-lt"/>
        <a:buAutoNum type="arabicPeriod"/>
        <a:defRPr lang="it-IT" sz="1800" kern="1200" baseline="0" dirty="0" smtClean="0">
          <a:solidFill>
            <a:schemeClr val="tx1"/>
          </a:solidFill>
          <a:latin typeface="Arial" panose="020B0604020202020204" pitchFamily="34" charset="0"/>
          <a:ea typeface="+mn-ea"/>
          <a:cs typeface="Arial" panose="020B0604020202020204" pitchFamily="34" charset="0"/>
        </a:defRPr>
      </a:lvl7pPr>
      <a:lvl8pPr marL="360000" indent="-180000" algn="l" defTabSz="914400" rtl="0" eaLnBrk="1" latinLnBrk="0" hangingPunct="1">
        <a:lnSpc>
          <a:spcPct val="120000"/>
        </a:lnSpc>
        <a:spcBef>
          <a:spcPts val="600"/>
        </a:spcBef>
        <a:buClr>
          <a:schemeClr val="tx2"/>
        </a:buClr>
        <a:buFont typeface="+mj-lt"/>
        <a:buAutoNum type="arabicPeriod"/>
        <a:defRPr sz="1800" kern="1200">
          <a:solidFill>
            <a:schemeClr val="tx1"/>
          </a:solidFill>
          <a:latin typeface="+mn-lt"/>
          <a:ea typeface="+mn-ea"/>
          <a:cs typeface="+mn-cs"/>
        </a:defRPr>
      </a:lvl8pPr>
      <a:lvl9pPr marL="540000" indent="-180000" algn="l" defTabSz="914400" rtl="0" eaLnBrk="1" latinLnBrk="0" hangingPunct="1">
        <a:lnSpc>
          <a:spcPct val="120000"/>
        </a:lnSpc>
        <a:spcBef>
          <a:spcPts val="600"/>
        </a:spcBef>
        <a:buClr>
          <a:schemeClr val="tx2"/>
        </a:buClr>
        <a:buFont typeface="+mj-lt"/>
        <a:buAutoNum type="arabicPeriod"/>
        <a:defRPr sz="18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0.xml"/><Relationship Id="rId5" Type="http://schemas.openxmlformats.org/officeDocument/2006/relationships/image" Target="../media/image9.jp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en-US" sz="6000" b="1" dirty="0"/>
              <a:t>CLAUDE CODE</a:t>
            </a:r>
          </a:p>
          <a:p>
            <a:r>
              <a:rPr lang="en-US" sz="2800" dirty="0"/>
              <a:t>Agentic AI Coding</a:t>
            </a:r>
          </a:p>
        </p:txBody>
      </p:sp>
      <p:sp>
        <p:nvSpPr>
          <p:cNvPr id="3" name="Sottotitolo 2"/>
          <p:cNvSpPr>
            <a:spLocks noGrp="1"/>
          </p:cNvSpPr>
          <p:nvPr>
            <p:ph type="subTitle" idx="1"/>
          </p:nvPr>
        </p:nvSpPr>
        <p:spPr>
          <a:xfrm>
            <a:off x="573852" y="3375892"/>
            <a:ext cx="7585612" cy="719858"/>
          </a:xfrm>
        </p:spPr>
        <p:txBody>
          <a:bodyPr/>
          <a:lstStyle/>
          <a:p>
            <a:r>
              <a:rPr lang="en-US" sz="1800" b="1" dirty="0"/>
              <a:t>A. Resta       |  </a:t>
            </a:r>
            <a:r>
              <a:rPr lang="en-US" b="1" dirty="0"/>
              <a:t>GenAI Engineer  |  Storm AI IT</a:t>
            </a:r>
          </a:p>
          <a:p>
            <a:r>
              <a:rPr lang="en-US" b="1" dirty="0"/>
              <a:t>V. Lapadula  |  GenAI Engineer  |  Storm AI IT</a:t>
            </a:r>
          </a:p>
        </p:txBody>
      </p:sp>
    </p:spTree>
    <p:extLst>
      <p:ext uri="{BB962C8B-B14F-4D97-AF65-F5344CB8AC3E}">
        <p14:creationId xmlns:p14="http://schemas.microsoft.com/office/powerpoint/2010/main" val="2327581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B5D9341-E1EC-43F4-B461-96976AB451A9}"/>
              </a:ext>
            </a:extLst>
          </p:cNvPr>
          <p:cNvSpPr>
            <a:spLocks noGrp="1"/>
          </p:cNvSpPr>
          <p:nvPr>
            <p:ph sz="half" idx="1"/>
          </p:nvPr>
        </p:nvSpPr>
        <p:spPr>
          <a:xfrm>
            <a:off x="573852" y="1437652"/>
            <a:ext cx="3815268" cy="664614"/>
          </a:xfrm>
        </p:spPr>
        <p:txBody>
          <a:bodyPr/>
          <a:lstStyle/>
          <a:p>
            <a:pPr algn="ctr"/>
            <a:r>
              <a:rPr lang="en-IT" b="1" dirty="0"/>
              <a:t>ALESSANDRO RESTA</a:t>
            </a:r>
          </a:p>
          <a:p>
            <a:pPr algn="ctr"/>
            <a:r>
              <a:rPr lang="en-IT" dirty="0">
                <a:solidFill>
                  <a:schemeClr val="tx2"/>
                </a:solidFill>
              </a:rPr>
              <a:t>GenAI Engineer at Storm AI IT</a:t>
            </a:r>
          </a:p>
        </p:txBody>
      </p:sp>
      <p:sp>
        <p:nvSpPr>
          <p:cNvPr id="8" name="Content Placeholder 7"/>
          <p:cNvSpPr>
            <a:spLocks noGrp="1"/>
          </p:cNvSpPr>
          <p:nvPr>
            <p:ph sz="half" idx="2"/>
          </p:nvPr>
        </p:nvSpPr>
        <p:spPr>
          <a:xfrm>
            <a:off x="4706754" y="1437652"/>
            <a:ext cx="3835261" cy="664614"/>
          </a:xfrm>
        </p:spPr>
        <p:txBody>
          <a:bodyPr/>
          <a:lstStyle/>
          <a:p>
            <a:pPr algn="ctr"/>
            <a:r>
              <a:rPr lang="en-US" b="1" dirty="0"/>
              <a:t>VINCENZO LAPADULA</a:t>
            </a:r>
          </a:p>
          <a:p>
            <a:pPr algn="ctr"/>
            <a:r>
              <a:rPr lang="en-IT" dirty="0">
                <a:solidFill>
                  <a:schemeClr val="tx2"/>
                </a:solidFill>
              </a:rPr>
              <a:t>GenAI Engineer at Storm AI IT</a:t>
            </a:r>
          </a:p>
          <a:p>
            <a:pPr algn="ctr"/>
            <a:endParaRPr lang="en-US" dirty="0"/>
          </a:p>
        </p:txBody>
      </p:sp>
      <p:sp>
        <p:nvSpPr>
          <p:cNvPr id="6" name="Title 5"/>
          <p:cNvSpPr>
            <a:spLocks noGrp="1"/>
          </p:cNvSpPr>
          <p:nvPr>
            <p:ph type="title"/>
          </p:nvPr>
        </p:nvSpPr>
        <p:spPr/>
        <p:txBody>
          <a:bodyPr/>
          <a:lstStyle/>
          <a:p>
            <a:r>
              <a:rPr lang="en-US" b="1" dirty="0"/>
              <a:t>ABOUT us</a:t>
            </a:r>
          </a:p>
        </p:txBody>
      </p:sp>
      <p:sp>
        <p:nvSpPr>
          <p:cNvPr id="9" name="Subtitle 8"/>
          <p:cNvSpPr>
            <a:spLocks noGrp="1"/>
          </p:cNvSpPr>
          <p:nvPr>
            <p:ph type="subTitle" idx="10"/>
          </p:nvPr>
        </p:nvSpPr>
        <p:spPr/>
        <p:txBody>
          <a:bodyPr/>
          <a:lstStyle/>
          <a:p>
            <a:endParaRPr/>
          </a:p>
        </p:txBody>
      </p:sp>
      <p:pic>
        <p:nvPicPr>
          <p:cNvPr id="13" name="Picture 12" descr="A pixelated cartoon of a pig&#10;&#10;AI-generated content may be incorrect.">
            <a:extLst>
              <a:ext uri="{FF2B5EF4-FFF2-40B4-BE49-F238E27FC236}">
                <a16:creationId xmlns:a16="http://schemas.microsoft.com/office/drawing/2014/main" id="{523A83E7-9ED1-A1BD-0B68-71ACEDDD6E26}"/>
              </a:ext>
            </a:extLst>
          </p:cNvPr>
          <p:cNvPicPr>
            <a:picLocks noChangeAspect="1"/>
          </p:cNvPicPr>
          <p:nvPr/>
        </p:nvPicPr>
        <p:blipFill>
          <a:blip r:embed="rId2"/>
          <a:stretch>
            <a:fillRect/>
          </a:stretch>
        </p:blipFill>
        <p:spPr>
          <a:xfrm>
            <a:off x="4024702" y="2805943"/>
            <a:ext cx="895094" cy="895094"/>
          </a:xfrm>
          <a:prstGeom prst="rect">
            <a:avLst/>
          </a:prstGeom>
        </p:spPr>
      </p:pic>
      <p:pic>
        <p:nvPicPr>
          <p:cNvPr id="16" name="Graphic 15" descr="Heart with solid fill">
            <a:extLst>
              <a:ext uri="{FF2B5EF4-FFF2-40B4-BE49-F238E27FC236}">
                <a16:creationId xmlns:a16="http://schemas.microsoft.com/office/drawing/2014/main" id="{6B0D9004-BE3F-69CE-2318-84B15D889E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57999" y="2648343"/>
            <a:ext cx="435294" cy="435294"/>
          </a:xfrm>
          <a:prstGeom prst="rect">
            <a:avLst/>
          </a:prstGeom>
        </p:spPr>
      </p:pic>
      <p:pic>
        <p:nvPicPr>
          <p:cNvPr id="4" name="Picture 3" descr="A person standing in front of a wall with logos&#10;&#10;AI-generated content may be incorrect.">
            <a:extLst>
              <a:ext uri="{FF2B5EF4-FFF2-40B4-BE49-F238E27FC236}">
                <a16:creationId xmlns:a16="http://schemas.microsoft.com/office/drawing/2014/main" id="{E7DC960E-F07D-9E89-D4BC-7CA2B38CC0C6}"/>
              </a:ext>
            </a:extLst>
          </p:cNvPr>
          <p:cNvPicPr>
            <a:picLocks noChangeAspect="1"/>
          </p:cNvPicPr>
          <p:nvPr/>
        </p:nvPicPr>
        <p:blipFill>
          <a:blip r:embed="rId4"/>
          <a:stretch>
            <a:fillRect/>
          </a:stretch>
        </p:blipFill>
        <p:spPr>
          <a:xfrm>
            <a:off x="1326000" y="2102266"/>
            <a:ext cx="2310971" cy="2430052"/>
          </a:xfrm>
          <a:prstGeom prst="rect">
            <a:avLst/>
          </a:prstGeom>
        </p:spPr>
      </p:pic>
      <p:pic>
        <p:nvPicPr>
          <p:cNvPr id="10" name="Picture 9" descr="A person with his arms crossed&#10;&#10;AI-generated content may be incorrect.">
            <a:extLst>
              <a:ext uri="{FF2B5EF4-FFF2-40B4-BE49-F238E27FC236}">
                <a16:creationId xmlns:a16="http://schemas.microsoft.com/office/drawing/2014/main" id="{D9925B31-5C91-C301-A965-62D9EFEE3E3A}"/>
              </a:ext>
            </a:extLst>
          </p:cNvPr>
          <p:cNvPicPr>
            <a:picLocks noChangeAspect="1"/>
          </p:cNvPicPr>
          <p:nvPr/>
        </p:nvPicPr>
        <p:blipFill>
          <a:blip r:embed="rId5"/>
          <a:srcRect l="20341" r="14381"/>
          <a:stretch>
            <a:fillRect/>
          </a:stretch>
        </p:blipFill>
        <p:spPr>
          <a:xfrm>
            <a:off x="5417463" y="2102266"/>
            <a:ext cx="2413841" cy="2460049"/>
          </a:xfrm>
          <a:prstGeom prst="rect">
            <a:avLst/>
          </a:prstGeom>
        </p:spPr>
      </p:pic>
    </p:spTree>
    <p:extLst>
      <p:ext uri="{BB962C8B-B14F-4D97-AF65-F5344CB8AC3E}">
        <p14:creationId xmlns:p14="http://schemas.microsoft.com/office/powerpoint/2010/main" val="195753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en-US" b="1" dirty="0"/>
              <a:t>AGENDA</a:t>
            </a:r>
          </a:p>
        </p:txBody>
      </p:sp>
      <p:sp>
        <p:nvSpPr>
          <p:cNvPr id="4" name="Sottotitolo 3"/>
          <p:cNvSpPr>
            <a:spLocks noGrp="1"/>
          </p:cNvSpPr>
          <p:nvPr>
            <p:ph type="subTitle" idx="1"/>
          </p:nvPr>
        </p:nvSpPr>
        <p:spPr/>
        <p:txBody>
          <a:bodyPr/>
          <a:lstStyle/>
          <a:p>
            <a:endParaRPr/>
          </a:p>
        </p:txBody>
      </p:sp>
      <p:sp>
        <p:nvSpPr>
          <p:cNvPr id="2" name="Content Placeholder 1"/>
          <p:cNvSpPr>
            <a:spLocks noGrp="1"/>
          </p:cNvSpPr>
          <p:nvPr>
            <p:ph idx="10"/>
          </p:nvPr>
        </p:nvSpPr>
        <p:spPr/>
        <p:txBody>
          <a:bodyPr/>
          <a:lstStyle/>
          <a:p>
            <a:r>
              <a:rPr lang="en-US" sz="1900" b="1" dirty="0"/>
              <a:t>01  </a:t>
            </a:r>
            <a:r>
              <a:rPr lang="en-US" sz="1900" dirty="0"/>
              <a:t>What is Claude Code?</a:t>
            </a:r>
          </a:p>
          <a:p>
            <a:r>
              <a:rPr lang="en-US" sz="1900" b="1" dirty="0"/>
              <a:t>02  </a:t>
            </a:r>
            <a:r>
              <a:rPr lang="en-US" sz="1900" dirty="0"/>
              <a:t>How it actually works</a:t>
            </a:r>
          </a:p>
          <a:p>
            <a:r>
              <a:rPr lang="en-US" sz="1900" b="1" dirty="0"/>
              <a:t>03  </a:t>
            </a:r>
            <a:r>
              <a:rPr lang="en-US" sz="1900" dirty="0"/>
              <a:t>Memory &amp; settings</a:t>
            </a:r>
          </a:p>
          <a:p>
            <a:r>
              <a:rPr lang="en-US" sz="1900" b="1" dirty="0"/>
              <a:t>04  </a:t>
            </a:r>
            <a:r>
              <a:rPr lang="en-US" sz="1900" dirty="0"/>
              <a:t>Extending Claude Code</a:t>
            </a:r>
          </a:p>
        </p:txBody>
      </p:sp>
    </p:spTree>
    <p:extLst>
      <p:ext uri="{BB962C8B-B14F-4D97-AF65-F5344CB8AC3E}">
        <p14:creationId xmlns:p14="http://schemas.microsoft.com/office/powerpoint/2010/main" val="1766624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175C3-5E70-1E8A-235E-E40F7061D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655F3-5F94-8AC6-150A-285A6B6D1475}"/>
              </a:ext>
            </a:extLst>
          </p:cNvPr>
          <p:cNvSpPr>
            <a:spLocks noGrp="1"/>
          </p:cNvSpPr>
          <p:nvPr>
            <p:ph type="title"/>
          </p:nvPr>
        </p:nvSpPr>
        <p:spPr/>
        <p:txBody>
          <a:bodyPr/>
          <a:lstStyle/>
          <a:p>
            <a:r>
              <a:rPr lang="en-US" b="1" dirty="0"/>
              <a:t>WHAT IS CLAUDE CODE?</a:t>
            </a:r>
          </a:p>
        </p:txBody>
      </p:sp>
      <p:sp>
        <p:nvSpPr>
          <p:cNvPr id="4" name="Text Placeholder 3">
            <a:extLst>
              <a:ext uri="{FF2B5EF4-FFF2-40B4-BE49-F238E27FC236}">
                <a16:creationId xmlns:a16="http://schemas.microsoft.com/office/drawing/2014/main" id="{CB7A315F-C2DD-F203-F614-51DC93F73341}"/>
              </a:ext>
            </a:extLst>
          </p:cNvPr>
          <p:cNvSpPr>
            <a:spLocks noGrp="1"/>
          </p:cNvSpPr>
          <p:nvPr>
            <p:ph type="body" sz="quarter" idx="10"/>
          </p:nvPr>
        </p:nvSpPr>
        <p:spPr/>
        <p:txBody>
          <a:bodyPr/>
          <a:lstStyle/>
          <a:p>
            <a:pPr marL="285750" indent="-285750">
              <a:buClr>
                <a:schemeClr val="tx2"/>
              </a:buClr>
              <a:buSzPct val="130000"/>
              <a:buFont typeface="Wingdings" panose="05000000000000000000" pitchFamily="2" charset="2"/>
              <a:buChar char="§"/>
            </a:pPr>
            <a:r>
              <a:rPr lang="en-US" dirty="0"/>
              <a:t>Reads your whole project</a:t>
            </a:r>
          </a:p>
          <a:p>
            <a:pPr marL="285750" indent="-285750">
              <a:buClr>
                <a:schemeClr val="tx2"/>
              </a:buClr>
              <a:buSzPct val="130000"/>
              <a:buFont typeface="Wingdings" panose="05000000000000000000" pitchFamily="2" charset="2"/>
              <a:buChar char="§"/>
            </a:pPr>
            <a:r>
              <a:rPr lang="en-US" dirty="0"/>
              <a:t>Edits files across multiple locations</a:t>
            </a:r>
          </a:p>
          <a:p>
            <a:pPr marL="285750" indent="-285750">
              <a:buClr>
                <a:schemeClr val="tx2"/>
              </a:buClr>
              <a:buSzPct val="130000"/>
              <a:buFont typeface="Wingdings" panose="05000000000000000000" pitchFamily="2" charset="2"/>
              <a:buChar char="§"/>
            </a:pPr>
            <a:r>
              <a:rPr lang="en-US" dirty="0"/>
              <a:t>Runs shell commands &amp; tests</a:t>
            </a:r>
          </a:p>
          <a:p>
            <a:pPr marL="285750" indent="-285750">
              <a:buClr>
                <a:schemeClr val="tx2"/>
              </a:buClr>
              <a:buSzPct val="130000"/>
              <a:buFont typeface="Wingdings" panose="05000000000000000000" pitchFamily="2" charset="2"/>
              <a:buChar char="§"/>
            </a:pPr>
            <a:r>
              <a:rPr lang="en-US" dirty="0"/>
              <a:t>Works with git, npm, your CI pipeline</a:t>
            </a:r>
          </a:p>
          <a:p>
            <a:pPr marL="285750" indent="-285750">
              <a:buClr>
                <a:schemeClr val="tx2"/>
              </a:buClr>
              <a:buSzPct val="130000"/>
              <a:buFont typeface="Wingdings" panose="05000000000000000000" pitchFamily="2" charset="2"/>
              <a:buChar char="§"/>
            </a:pPr>
            <a:r>
              <a:rPr lang="en-US" dirty="0"/>
              <a:t>Connects to external services via MCP</a:t>
            </a:r>
          </a:p>
          <a:p>
            <a:endParaRPr lang="en-US" dirty="0"/>
          </a:p>
          <a:p>
            <a:r>
              <a:rPr lang="en-US" sz="1800" b="1" dirty="0"/>
              <a:t>You describe the goal. It plans and executes the steps.</a:t>
            </a:r>
          </a:p>
          <a:p>
            <a:endParaRPr lang="en-US" dirty="0"/>
          </a:p>
        </p:txBody>
      </p:sp>
      <p:sp>
        <p:nvSpPr>
          <p:cNvPr id="5" name="Subtitle 4">
            <a:extLst>
              <a:ext uri="{FF2B5EF4-FFF2-40B4-BE49-F238E27FC236}">
                <a16:creationId xmlns:a16="http://schemas.microsoft.com/office/drawing/2014/main" id="{DCB3AF6F-46B3-CC1B-0CE3-90DA4634B781}"/>
              </a:ext>
            </a:extLst>
          </p:cNvPr>
          <p:cNvSpPr>
            <a:spLocks noGrp="1"/>
          </p:cNvSpPr>
          <p:nvPr>
            <p:ph type="subTitle" idx="1"/>
          </p:nvPr>
        </p:nvSpPr>
        <p:spPr/>
        <p:txBody>
          <a:bodyPr/>
          <a:lstStyle/>
          <a:p>
            <a:r>
              <a:rPr lang="en-US" sz="1800" dirty="0"/>
              <a:t>An AI coding agent by Anthropic</a:t>
            </a:r>
          </a:p>
        </p:txBody>
      </p:sp>
      <p:grpSp>
        <p:nvGrpSpPr>
          <p:cNvPr id="16" name="Group 15">
            <a:extLst>
              <a:ext uri="{FF2B5EF4-FFF2-40B4-BE49-F238E27FC236}">
                <a16:creationId xmlns:a16="http://schemas.microsoft.com/office/drawing/2014/main" id="{BCA1FCBF-F57F-B982-9F55-E68FEC4F565A}"/>
              </a:ext>
            </a:extLst>
          </p:cNvPr>
          <p:cNvGrpSpPr/>
          <p:nvPr/>
        </p:nvGrpSpPr>
        <p:grpSpPr>
          <a:xfrm>
            <a:off x="4923899" y="1766953"/>
            <a:ext cx="4008635" cy="1370068"/>
            <a:chOff x="4943565" y="1137688"/>
            <a:chExt cx="4008635" cy="1370068"/>
          </a:xfrm>
        </p:grpSpPr>
        <p:pic>
          <p:nvPicPr>
            <p:cNvPr id="6" name="Picture 5" descr="A pixelated cartoon of a pig&#10;&#10;AI-generated content may be incorrect.">
              <a:extLst>
                <a:ext uri="{FF2B5EF4-FFF2-40B4-BE49-F238E27FC236}">
                  <a16:creationId xmlns:a16="http://schemas.microsoft.com/office/drawing/2014/main" id="{039B53CC-F451-DC87-3F84-4D5A4AF8F79E}"/>
                </a:ext>
              </a:extLst>
            </p:cNvPr>
            <p:cNvPicPr>
              <a:picLocks noChangeAspect="1"/>
            </p:cNvPicPr>
            <p:nvPr/>
          </p:nvPicPr>
          <p:blipFill>
            <a:blip r:embed="rId3"/>
            <a:stretch>
              <a:fillRect/>
            </a:stretch>
          </p:blipFill>
          <p:spPr>
            <a:xfrm>
              <a:off x="4943565" y="1424184"/>
              <a:ext cx="895094" cy="895094"/>
            </a:xfrm>
            <a:prstGeom prst="rect">
              <a:avLst/>
            </a:prstGeom>
          </p:spPr>
        </p:pic>
        <p:pic>
          <p:nvPicPr>
            <p:cNvPr id="7" name="Picture 6" descr="A orange sunburst with black background&#10;&#10;AI-generated content may be incorrect.">
              <a:extLst>
                <a:ext uri="{FF2B5EF4-FFF2-40B4-BE49-F238E27FC236}">
                  <a16:creationId xmlns:a16="http://schemas.microsoft.com/office/drawing/2014/main" id="{F3F997A1-D290-642C-0376-29926AB9F393}"/>
                </a:ext>
              </a:extLst>
            </p:cNvPr>
            <p:cNvPicPr>
              <a:picLocks noChangeAspect="1"/>
            </p:cNvPicPr>
            <p:nvPr/>
          </p:nvPicPr>
          <p:blipFill>
            <a:blip r:embed="rId4"/>
            <a:stretch>
              <a:fillRect/>
            </a:stretch>
          </p:blipFill>
          <p:spPr>
            <a:xfrm>
              <a:off x="6588729" y="1583919"/>
              <a:ext cx="585547" cy="585547"/>
            </a:xfrm>
            <a:prstGeom prst="rect">
              <a:avLst/>
            </a:prstGeom>
          </p:spPr>
        </p:pic>
        <p:sp>
          <p:nvSpPr>
            <p:cNvPr id="8" name="TextBox 7">
              <a:extLst>
                <a:ext uri="{FF2B5EF4-FFF2-40B4-BE49-F238E27FC236}">
                  <a16:creationId xmlns:a16="http://schemas.microsoft.com/office/drawing/2014/main" id="{C5363145-DD39-AEBB-CC2D-0AD41524062D}"/>
                </a:ext>
              </a:extLst>
            </p:cNvPr>
            <p:cNvSpPr txBox="1"/>
            <p:nvPr/>
          </p:nvSpPr>
          <p:spPr>
            <a:xfrm>
              <a:off x="5968310" y="1547081"/>
              <a:ext cx="484428" cy="707886"/>
            </a:xfrm>
            <a:prstGeom prst="rect">
              <a:avLst/>
            </a:prstGeom>
            <a:noFill/>
          </p:spPr>
          <p:txBody>
            <a:bodyPr wrap="none" rtlCol="0">
              <a:spAutoFit/>
            </a:bodyPr>
            <a:lstStyle/>
            <a:p>
              <a:r>
                <a:rPr lang="en-IT" sz="4000" b="1" dirty="0"/>
                <a:t>=</a:t>
              </a:r>
            </a:p>
          </p:txBody>
        </p:sp>
        <p:pic>
          <p:nvPicPr>
            <p:cNvPr id="10" name="Picture 9" descr="A black square with white text&#10;&#10;AI-generated content may be incorrect.">
              <a:extLst>
                <a:ext uri="{FF2B5EF4-FFF2-40B4-BE49-F238E27FC236}">
                  <a16:creationId xmlns:a16="http://schemas.microsoft.com/office/drawing/2014/main" id="{764FF172-0D70-3667-2028-87BE24C1E055}"/>
                </a:ext>
              </a:extLst>
            </p:cNvPr>
            <p:cNvPicPr>
              <a:picLocks noChangeAspect="1"/>
            </p:cNvPicPr>
            <p:nvPr/>
          </p:nvPicPr>
          <p:blipFill>
            <a:blip r:embed="rId5"/>
            <a:stretch>
              <a:fillRect/>
            </a:stretch>
          </p:blipFill>
          <p:spPr>
            <a:xfrm>
              <a:off x="8389465" y="1945021"/>
              <a:ext cx="562735" cy="562735"/>
            </a:xfrm>
            <a:prstGeom prst="rect">
              <a:avLst/>
            </a:prstGeom>
          </p:spPr>
        </p:pic>
        <p:pic>
          <p:nvPicPr>
            <p:cNvPr id="12" name="Picture 11" descr="A wrench and screwdriver crossed&#10;&#10;AI-generated content may be incorrect.">
              <a:extLst>
                <a:ext uri="{FF2B5EF4-FFF2-40B4-BE49-F238E27FC236}">
                  <a16:creationId xmlns:a16="http://schemas.microsoft.com/office/drawing/2014/main" id="{411C1214-0BE1-4696-F043-EF874F6272E3}"/>
                </a:ext>
              </a:extLst>
            </p:cNvPr>
            <p:cNvPicPr>
              <a:picLocks noChangeAspect="1"/>
            </p:cNvPicPr>
            <p:nvPr/>
          </p:nvPicPr>
          <p:blipFill>
            <a:blip r:embed="rId6"/>
            <a:stretch>
              <a:fillRect/>
            </a:stretch>
          </p:blipFill>
          <p:spPr>
            <a:xfrm>
              <a:off x="7760526" y="1985926"/>
              <a:ext cx="459426" cy="459426"/>
            </a:xfrm>
            <a:prstGeom prst="rect">
              <a:avLst/>
            </a:prstGeom>
          </p:spPr>
        </p:pic>
        <p:pic>
          <p:nvPicPr>
            <p:cNvPr id="14" name="Picture 13" descr="A computer graphic of a file&#10;&#10;AI-generated content may be incorrect.">
              <a:extLst>
                <a:ext uri="{FF2B5EF4-FFF2-40B4-BE49-F238E27FC236}">
                  <a16:creationId xmlns:a16="http://schemas.microsoft.com/office/drawing/2014/main" id="{5616A07B-D006-95C8-F746-2ACA2F772A1D}"/>
                </a:ext>
              </a:extLst>
            </p:cNvPr>
            <p:cNvPicPr>
              <a:picLocks noChangeAspect="1"/>
            </p:cNvPicPr>
            <p:nvPr/>
          </p:nvPicPr>
          <p:blipFill>
            <a:blip r:embed="rId7"/>
            <a:stretch>
              <a:fillRect/>
            </a:stretch>
          </p:blipFill>
          <p:spPr>
            <a:xfrm>
              <a:off x="8018444" y="1137688"/>
              <a:ext cx="569318" cy="569318"/>
            </a:xfrm>
            <a:prstGeom prst="rect">
              <a:avLst/>
            </a:prstGeom>
          </p:spPr>
        </p:pic>
        <p:sp>
          <p:nvSpPr>
            <p:cNvPr id="15" name="TextBox 14">
              <a:extLst>
                <a:ext uri="{FF2B5EF4-FFF2-40B4-BE49-F238E27FC236}">
                  <a16:creationId xmlns:a16="http://schemas.microsoft.com/office/drawing/2014/main" id="{0220FFE5-8B3B-BE63-BD6D-99305FCF8237}"/>
                </a:ext>
              </a:extLst>
            </p:cNvPr>
            <p:cNvSpPr txBox="1"/>
            <p:nvPr/>
          </p:nvSpPr>
          <p:spPr>
            <a:xfrm>
              <a:off x="7276379" y="1515637"/>
              <a:ext cx="484428" cy="707886"/>
            </a:xfrm>
            <a:prstGeom prst="rect">
              <a:avLst/>
            </a:prstGeom>
            <a:noFill/>
          </p:spPr>
          <p:txBody>
            <a:bodyPr wrap="none" rtlCol="0">
              <a:spAutoFit/>
            </a:bodyPr>
            <a:lstStyle/>
            <a:p>
              <a:r>
                <a:rPr lang="en-IT" sz="4000" b="1" dirty="0"/>
                <a:t>+</a:t>
              </a:r>
            </a:p>
          </p:txBody>
        </p:sp>
      </p:grpSp>
    </p:spTree>
    <p:extLst>
      <p:ext uri="{BB962C8B-B14F-4D97-AF65-F5344CB8AC3E}">
        <p14:creationId xmlns:p14="http://schemas.microsoft.com/office/powerpoint/2010/main" val="3692146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FE6C0FBD-EC44-035D-0E45-5E540876BCBC}"/>
              </a:ext>
            </a:extLst>
          </p:cNvPr>
          <p:cNvPicPr>
            <a:picLocks noChangeAspect="1"/>
          </p:cNvPicPr>
          <p:nvPr/>
        </p:nvPicPr>
        <p:blipFill>
          <a:blip r:embed="rId3">
            <a:alphaModFix/>
          </a:blip>
          <a:stretch>
            <a:fillRect/>
          </a:stretch>
        </p:blipFill>
        <p:spPr>
          <a:xfrm>
            <a:off x="2887356" y="1553353"/>
            <a:ext cx="5654659" cy="3448039"/>
          </a:xfrm>
          <a:prstGeom prst="rect">
            <a:avLst/>
          </a:prstGeom>
        </p:spPr>
      </p:pic>
      <p:sp>
        <p:nvSpPr>
          <p:cNvPr id="2" name="Title 1"/>
          <p:cNvSpPr>
            <a:spLocks noGrp="1"/>
          </p:cNvSpPr>
          <p:nvPr>
            <p:ph type="title"/>
          </p:nvPr>
        </p:nvSpPr>
        <p:spPr/>
        <p:txBody>
          <a:bodyPr/>
          <a:lstStyle/>
          <a:p>
            <a:r>
              <a:rPr lang="en-US" b="1" dirty="0"/>
              <a:t>WHERE DOES IT RUN?</a:t>
            </a:r>
          </a:p>
        </p:txBody>
      </p:sp>
      <p:sp>
        <p:nvSpPr>
          <p:cNvPr id="4" name="Text Placeholder 3"/>
          <p:cNvSpPr>
            <a:spLocks noGrp="1"/>
          </p:cNvSpPr>
          <p:nvPr>
            <p:ph type="body" sz="quarter" idx="10"/>
          </p:nvPr>
        </p:nvSpPr>
        <p:spPr/>
        <p:txBody>
          <a:bodyPr/>
          <a:lstStyle/>
          <a:p>
            <a:pPr marL="285750" indent="-285750">
              <a:buClr>
                <a:schemeClr val="tx2"/>
              </a:buClr>
              <a:buSzPct val="130000"/>
              <a:buFont typeface="Wingdings" panose="05000000000000000000" pitchFamily="2" charset="2"/>
              <a:buChar char="§"/>
            </a:pPr>
            <a:r>
              <a:rPr lang="en-US" dirty="0"/>
              <a:t>Terminal (CLI) </a:t>
            </a:r>
          </a:p>
          <a:p>
            <a:pPr marL="285750" indent="-285750">
              <a:buClr>
                <a:schemeClr val="tx2"/>
              </a:buClr>
              <a:buSzPct val="130000"/>
              <a:buFont typeface="Wingdings" panose="05000000000000000000" pitchFamily="2" charset="2"/>
              <a:buChar char="§"/>
            </a:pPr>
            <a:r>
              <a:rPr lang="en-US" dirty="0"/>
              <a:t>IDE (es. VS Code)</a:t>
            </a:r>
          </a:p>
          <a:p>
            <a:pPr marL="285750" indent="-285750">
              <a:buClr>
                <a:schemeClr val="tx2"/>
              </a:buClr>
              <a:buSzPct val="130000"/>
              <a:buFont typeface="Wingdings" panose="05000000000000000000" pitchFamily="2" charset="2"/>
              <a:buChar char="§"/>
            </a:pPr>
            <a:r>
              <a:rPr lang="en-US" dirty="0"/>
              <a:t>Desktop App</a:t>
            </a:r>
          </a:p>
          <a:p>
            <a:pPr marL="285750" indent="-285750">
              <a:buClr>
                <a:schemeClr val="tx2"/>
              </a:buClr>
              <a:buSzPct val="130000"/>
              <a:buFont typeface="Wingdings" panose="05000000000000000000" pitchFamily="2" charset="2"/>
              <a:buChar char="§"/>
            </a:pPr>
            <a:r>
              <a:rPr lang="en-US" dirty="0"/>
              <a:t>Browser</a:t>
            </a:r>
          </a:p>
          <a:p>
            <a:pPr>
              <a:buClr>
                <a:schemeClr val="tx2"/>
              </a:buClr>
              <a:buSzPct val="130000"/>
            </a:pPr>
            <a:endParaRPr lang="en-US" dirty="0"/>
          </a:p>
          <a:p>
            <a:pPr>
              <a:buClr>
                <a:schemeClr val="tx2"/>
              </a:buClr>
              <a:buSzPct val="130000"/>
            </a:pPr>
            <a:r>
              <a:rPr lang="en-US" dirty="0"/>
              <a:t>  You name it!</a:t>
            </a:r>
          </a:p>
        </p:txBody>
      </p:sp>
      <p:sp>
        <p:nvSpPr>
          <p:cNvPr id="5" name="Subtitle 4"/>
          <p:cNvSpPr>
            <a:spLocks noGrp="1"/>
          </p:cNvSpPr>
          <p:nvPr>
            <p:ph type="subTitle" idx="1"/>
          </p:nvPr>
        </p:nvSpPr>
        <p:spPr/>
        <p:txBody>
          <a:bodyPr/>
          <a:lstStyle/>
          <a:p>
            <a:r>
              <a:rPr lang="en-US" sz="1600" dirty="0"/>
              <a:t>everywhere</a:t>
            </a:r>
          </a:p>
        </p:txBody>
      </p:sp>
      <p:pic>
        <p:nvPicPr>
          <p:cNvPr id="6" name="Picture 5" descr="A screenshot of a computer&#10;&#10;AI-generated content may be incorrect.">
            <a:extLst>
              <a:ext uri="{FF2B5EF4-FFF2-40B4-BE49-F238E27FC236}">
                <a16:creationId xmlns:a16="http://schemas.microsoft.com/office/drawing/2014/main" id="{870996EB-DFFD-2DCF-CFFA-8944B7691091}"/>
              </a:ext>
            </a:extLst>
          </p:cNvPr>
          <p:cNvPicPr>
            <a:picLocks noChangeAspect="1"/>
          </p:cNvPicPr>
          <p:nvPr/>
        </p:nvPicPr>
        <p:blipFill rotWithShape="1">
          <a:blip r:embed="rId4">
            <a:alphaModFix amt="65000"/>
          </a:blip>
          <a:srcRect l="6597" t="6934" r="6503" b="14294"/>
          <a:stretch>
            <a:fillRect/>
          </a:stretch>
        </p:blipFill>
        <p:spPr>
          <a:xfrm>
            <a:off x="5467118" y="1121863"/>
            <a:ext cx="3350302" cy="1951975"/>
          </a:xfrm>
          <a:prstGeom prst="rect">
            <a:avLst/>
          </a:prstGeom>
        </p:spPr>
      </p:pic>
    </p:spTree>
    <p:extLst>
      <p:ext uri="{BB962C8B-B14F-4D97-AF65-F5344CB8AC3E}">
        <p14:creationId xmlns:p14="http://schemas.microsoft.com/office/powerpoint/2010/main" val="3288793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09B2E-0C2B-BAA7-C159-EE2127299FD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E070AC3-7A25-434E-21D8-0A00BBDD9A48}"/>
              </a:ext>
            </a:extLst>
          </p:cNvPr>
          <p:cNvSpPr>
            <a:spLocks noGrp="1"/>
          </p:cNvSpPr>
          <p:nvPr>
            <p:ph type="ctrTitle"/>
          </p:nvPr>
        </p:nvSpPr>
        <p:spPr/>
        <p:txBody>
          <a:bodyPr/>
          <a:lstStyle/>
          <a:p>
            <a:r>
              <a:rPr lang="en-US" sz="4400" b="1" dirty="0"/>
              <a:t>HOW IT ACTUALLY WORKS</a:t>
            </a:r>
          </a:p>
        </p:txBody>
      </p:sp>
    </p:spTree>
    <p:extLst>
      <p:ext uri="{BB962C8B-B14F-4D97-AF65-F5344CB8AC3E}">
        <p14:creationId xmlns:p14="http://schemas.microsoft.com/office/powerpoint/2010/main" val="89506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p:txBody>
          <a:bodyPr anchor="t">
            <a:normAutofit/>
          </a:bodyPr>
          <a:lstStyle/>
          <a:p>
            <a:r>
              <a:rPr lang="en-US" sz="2000" b="1"/>
              <a:t>THE AGENTIC LOOP</a:t>
            </a:r>
          </a:p>
        </p:txBody>
      </p:sp>
      <p:sp>
        <p:nvSpPr>
          <p:cNvPr id="14" name="Subtitle 3">
            <a:extLst>
              <a:ext uri="{FF2B5EF4-FFF2-40B4-BE49-F238E27FC236}">
                <a16:creationId xmlns:a16="http://schemas.microsoft.com/office/drawing/2014/main" id="{9724D1C3-3819-B778-A188-56FAA8A33AAC}"/>
              </a:ext>
            </a:extLst>
          </p:cNvPr>
          <p:cNvSpPr>
            <a:spLocks noGrp="1"/>
          </p:cNvSpPr>
          <p:nvPr>
            <p:ph type="subTitle" idx="12"/>
          </p:nvPr>
        </p:nvSpPr>
        <p:spPr/>
        <p:txBody>
          <a:bodyPr/>
          <a:lstStyle/>
          <a:p>
            <a:endParaRPr lang="en-US"/>
          </a:p>
        </p:txBody>
      </p:sp>
      <p:pic>
        <p:nvPicPr>
          <p:cNvPr id="7" name="Graphic 6">
            <a:extLst>
              <a:ext uri="{FF2B5EF4-FFF2-40B4-BE49-F238E27FC236}">
                <a16:creationId xmlns:a16="http://schemas.microsoft.com/office/drawing/2014/main" id="{75730E27-1253-9DF7-6235-880E5E5B55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1740" y="1369603"/>
            <a:ext cx="6760519" cy="2629091"/>
          </a:xfrm>
          <a:prstGeom prst="rect">
            <a:avLst/>
          </a:prstGeom>
        </p:spPr>
      </p:pic>
      <p:sp>
        <p:nvSpPr>
          <p:cNvPr id="10" name="TextBox 9">
            <a:extLst>
              <a:ext uri="{FF2B5EF4-FFF2-40B4-BE49-F238E27FC236}">
                <a16:creationId xmlns:a16="http://schemas.microsoft.com/office/drawing/2014/main" id="{BB58C5DD-1AB8-3E15-1F7B-0C2076CD16AC}"/>
              </a:ext>
            </a:extLst>
          </p:cNvPr>
          <p:cNvSpPr txBox="1"/>
          <p:nvPr/>
        </p:nvSpPr>
        <p:spPr>
          <a:xfrm>
            <a:off x="1123950" y="4285728"/>
            <a:ext cx="3598549" cy="738664"/>
          </a:xfrm>
          <a:prstGeom prst="rect">
            <a:avLst/>
          </a:prstGeom>
          <a:noFill/>
        </p:spPr>
        <p:txBody>
          <a:bodyPr wrap="none" rtlCol="0">
            <a:spAutoFit/>
          </a:bodyPr>
          <a:lstStyle/>
          <a:p>
            <a:r>
              <a:rPr lang="en-US" sz="1400" b="1" dirty="0"/>
              <a:t>Your prompt triggers a cycle</a:t>
            </a:r>
          </a:p>
          <a:p>
            <a:r>
              <a:rPr lang="en-US" sz="1400" b="1" dirty="0"/>
              <a:t>You can interrupt and steer at any point</a:t>
            </a:r>
            <a:endParaRPr lang="en-US" sz="1400" dirty="0"/>
          </a:p>
          <a:p>
            <a:endParaRPr lang="en-IT" sz="1400" dirty="0" err="1"/>
          </a:p>
        </p:txBody>
      </p:sp>
    </p:spTree>
    <p:extLst>
      <p:ext uri="{BB962C8B-B14F-4D97-AF65-F5344CB8AC3E}">
        <p14:creationId xmlns:p14="http://schemas.microsoft.com/office/powerpoint/2010/main" val="360698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p:txBody>
          <a:bodyPr/>
          <a:lstStyle/>
          <a:p>
            <a:pPr marL="285750" indent="-285750">
              <a:buClr>
                <a:schemeClr val="tx2"/>
              </a:buClr>
              <a:buSzPct val="130000"/>
              <a:buFont typeface="Wingdings" panose="05000000000000000000" pitchFamily="2" charset="2"/>
              <a:buChar char="§"/>
            </a:pPr>
            <a:r>
              <a:rPr lang="en-US" sz="1700" b="1" dirty="0"/>
              <a:t>File operations  </a:t>
            </a:r>
            <a:r>
              <a:rPr lang="en-US" sz="1700" dirty="0"/>
              <a:t>Read, write, rename, move</a:t>
            </a:r>
          </a:p>
          <a:p>
            <a:pPr marL="285750" indent="-285750">
              <a:buClr>
                <a:schemeClr val="tx2"/>
              </a:buClr>
              <a:buSzPct val="130000"/>
              <a:buFont typeface="Wingdings" panose="05000000000000000000" pitchFamily="2" charset="2"/>
              <a:buChar char="§"/>
            </a:pPr>
            <a:r>
              <a:rPr lang="en-US" sz="1700" b="1" dirty="0"/>
              <a:t>Search  </a:t>
            </a:r>
            <a:r>
              <a:rPr lang="en-US" sz="1700" dirty="0"/>
              <a:t>By filename, content, or regex</a:t>
            </a:r>
          </a:p>
          <a:p>
            <a:pPr marL="285750" indent="-285750">
              <a:buClr>
                <a:schemeClr val="tx2"/>
              </a:buClr>
              <a:buSzPct val="130000"/>
              <a:buFont typeface="Wingdings" panose="05000000000000000000" pitchFamily="2" charset="2"/>
              <a:buChar char="§"/>
            </a:pPr>
            <a:r>
              <a:rPr lang="en-US" sz="1700" b="1" dirty="0"/>
              <a:t>Shell execution  </a:t>
            </a:r>
            <a:r>
              <a:rPr lang="en-US" sz="1700" dirty="0"/>
              <a:t>Run tests, git, build tools</a:t>
            </a:r>
          </a:p>
          <a:p>
            <a:pPr marL="285750" indent="-285750">
              <a:buClr>
                <a:schemeClr val="tx2"/>
              </a:buClr>
              <a:buSzPct val="130000"/>
              <a:buFont typeface="Wingdings" panose="05000000000000000000" pitchFamily="2" charset="2"/>
              <a:buChar char="§"/>
            </a:pPr>
            <a:r>
              <a:rPr lang="en-US" sz="1700" b="1" dirty="0"/>
              <a:t>Web access  </a:t>
            </a:r>
            <a:r>
              <a:rPr lang="en-US" sz="1700" dirty="0"/>
              <a:t>Fetch docs, search error messages</a:t>
            </a:r>
          </a:p>
          <a:p>
            <a:pPr marL="285750" indent="-285750">
              <a:buClr>
                <a:schemeClr val="tx2"/>
              </a:buClr>
              <a:buSzPct val="130000"/>
              <a:buFont typeface="Wingdings" panose="05000000000000000000" pitchFamily="2" charset="2"/>
              <a:buChar char="§"/>
            </a:pPr>
            <a:r>
              <a:rPr lang="en-US" sz="1700" b="1" dirty="0"/>
              <a:t>Code intelligence  </a:t>
            </a:r>
            <a:r>
              <a:rPr lang="en-US" sz="1700" dirty="0"/>
              <a:t>Type errors, references, definitions</a:t>
            </a:r>
          </a:p>
          <a:p>
            <a:pPr>
              <a:buClr>
                <a:schemeClr val="tx2"/>
              </a:buClr>
              <a:buSzPct val="130000"/>
            </a:pPr>
            <a:r>
              <a:rPr lang="en-US" sz="1700" dirty="0"/>
              <a:t>	(and many more …)</a:t>
            </a:r>
          </a:p>
          <a:p>
            <a:pPr marL="285750" indent="-285750">
              <a:buClr>
                <a:schemeClr val="tx2"/>
              </a:buClr>
              <a:buSzPct val="130000"/>
              <a:buFont typeface="Wingdings" panose="05000000000000000000" pitchFamily="2" charset="2"/>
              <a:buChar char="§"/>
            </a:pPr>
            <a:endParaRPr lang="en-US" sz="1700" dirty="0"/>
          </a:p>
        </p:txBody>
      </p:sp>
      <p:sp>
        <p:nvSpPr>
          <p:cNvPr id="6" name="Title 5"/>
          <p:cNvSpPr>
            <a:spLocks noGrp="1"/>
          </p:cNvSpPr>
          <p:nvPr>
            <p:ph type="title"/>
          </p:nvPr>
        </p:nvSpPr>
        <p:spPr/>
        <p:txBody>
          <a:bodyPr/>
          <a:lstStyle/>
          <a:p>
            <a:r>
              <a:rPr lang="en-US" b="1" dirty="0"/>
              <a:t>BUILT-IN TOOLS</a:t>
            </a:r>
          </a:p>
        </p:txBody>
      </p:sp>
      <p:sp>
        <p:nvSpPr>
          <p:cNvPr id="9" name="Subtitle 8"/>
          <p:cNvSpPr>
            <a:spLocks noGrp="1"/>
          </p:cNvSpPr>
          <p:nvPr>
            <p:ph type="subTitle" idx="10"/>
          </p:nvPr>
        </p:nvSpPr>
        <p:spPr/>
        <p:txBody>
          <a:bodyPr/>
          <a:lstStyle/>
          <a:p>
            <a:endParaRPr/>
          </a:p>
        </p:txBody>
      </p:sp>
      <p:sp>
        <p:nvSpPr>
          <p:cNvPr id="2" name="Rounded Rectangle 1">
            <a:extLst>
              <a:ext uri="{FF2B5EF4-FFF2-40B4-BE49-F238E27FC236}">
                <a16:creationId xmlns:a16="http://schemas.microsoft.com/office/drawing/2014/main" id="{9C4E8FDB-592B-D14D-A54D-62D749E912F7}"/>
              </a:ext>
            </a:extLst>
          </p:cNvPr>
          <p:cNvSpPr/>
          <p:nvPr/>
        </p:nvSpPr>
        <p:spPr>
          <a:xfrm>
            <a:off x="4762500" y="1435100"/>
            <a:ext cx="3771900" cy="3035300"/>
          </a:xfrm>
          <a:prstGeom prst="roundRect">
            <a:avLst/>
          </a:prstGeom>
          <a:solidFill>
            <a:srgbClr val="053238"/>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rtlCol="0" anchor="t" anchorCtr="0">
            <a:noAutofit/>
          </a:bodyPr>
          <a:lstStyle/>
          <a:p>
            <a:pPr algn="ctr">
              <a:buNone/>
            </a:pPr>
            <a:r>
              <a:rPr lang="en-US" sz="3200" b="1" dirty="0">
                <a:solidFill>
                  <a:srgbClr val="8EF050"/>
                </a:solidFill>
              </a:rPr>
              <a:t>💡</a:t>
            </a:r>
          </a:p>
          <a:p>
            <a:pPr algn="ctr">
              <a:buNone/>
            </a:pPr>
            <a:endParaRPr lang="en-US" sz="600" dirty="0"/>
          </a:p>
          <a:p>
            <a:pPr algn="ctr">
              <a:buNone/>
            </a:pPr>
            <a:r>
              <a:rPr lang="en-US" sz="1600" b="1" dirty="0">
                <a:solidFill>
                  <a:srgbClr val="FFFFFF"/>
                </a:solidFill>
              </a:rPr>
              <a:t>Not sure which tools</a:t>
            </a:r>
          </a:p>
          <a:p>
            <a:pPr algn="ctr">
              <a:buNone/>
            </a:pPr>
            <a:r>
              <a:rPr lang="en-US" sz="1600" b="1" dirty="0">
                <a:solidFill>
                  <a:srgbClr val="FFFFFF"/>
                </a:solidFill>
              </a:rPr>
              <a:t>are available?</a:t>
            </a:r>
          </a:p>
          <a:p>
            <a:pPr algn="ctr">
              <a:buNone/>
            </a:pPr>
            <a:endParaRPr lang="en-US" sz="800" dirty="0"/>
          </a:p>
          <a:p>
            <a:pPr algn="ctr">
              <a:buNone/>
            </a:pPr>
            <a:r>
              <a:rPr lang="en-US" sz="1400" b="1" dirty="0">
                <a:solidFill>
                  <a:srgbClr val="8EF050"/>
                </a:solidFill>
              </a:rPr>
              <a:t>Simply ask Claude!</a:t>
            </a:r>
          </a:p>
          <a:p>
            <a:pPr algn="ctr">
              <a:buNone/>
            </a:pPr>
            <a:r>
              <a:rPr lang="en-US" sz="1300" dirty="0">
                <a:solidFill>
                  <a:srgbClr val="FFFFFF"/>
                </a:solidFill>
              </a:rPr>
              <a:t>It knows exactly</a:t>
            </a:r>
          </a:p>
          <a:p>
            <a:pPr algn="ctr">
              <a:buNone/>
            </a:pPr>
            <a:r>
              <a:rPr lang="en-US" sz="1300" dirty="0">
                <a:solidFill>
                  <a:srgbClr val="FFFFFF"/>
                </a:solidFill>
              </a:rPr>
              <a:t>what it can do</a:t>
            </a:r>
          </a:p>
        </p:txBody>
      </p:sp>
    </p:spTree>
    <p:extLst>
      <p:ext uri="{BB962C8B-B14F-4D97-AF65-F5344CB8AC3E}">
        <p14:creationId xmlns:p14="http://schemas.microsoft.com/office/powerpoint/2010/main" val="1342779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sz="4400" b="1" dirty="0"/>
              <a:t>MEMORY &amp; settings</a:t>
            </a:r>
          </a:p>
        </p:txBody>
      </p:sp>
    </p:spTree>
    <p:extLst>
      <p:ext uri="{BB962C8B-B14F-4D97-AF65-F5344CB8AC3E}">
        <p14:creationId xmlns:p14="http://schemas.microsoft.com/office/powerpoint/2010/main" val="3388642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8058E4-F6CC-A9F7-099A-CA4D90FF6961}"/>
              </a:ext>
            </a:extLst>
          </p:cNvPr>
          <p:cNvSpPr>
            <a:spLocks noGrp="1"/>
          </p:cNvSpPr>
          <p:nvPr>
            <p:ph sz="half" idx="1"/>
          </p:nvPr>
        </p:nvSpPr>
        <p:spPr/>
        <p:txBody>
          <a:bodyPr/>
          <a:lstStyle/>
          <a:p>
            <a:endParaRPr lang="en-IT"/>
          </a:p>
        </p:txBody>
      </p:sp>
      <p:sp>
        <p:nvSpPr>
          <p:cNvPr id="6" name="Title 5"/>
          <p:cNvSpPr>
            <a:spLocks noGrp="1"/>
          </p:cNvSpPr>
          <p:nvPr>
            <p:ph type="title"/>
          </p:nvPr>
        </p:nvSpPr>
        <p:spPr/>
        <p:txBody>
          <a:bodyPr/>
          <a:lstStyle/>
          <a:p>
            <a:r>
              <a:rPr lang="en-US" b="1" dirty="0"/>
              <a:t>Context window</a:t>
            </a:r>
          </a:p>
        </p:txBody>
      </p:sp>
      <p:sp>
        <p:nvSpPr>
          <p:cNvPr id="4" name="Subtitle 3">
            <a:extLst>
              <a:ext uri="{FF2B5EF4-FFF2-40B4-BE49-F238E27FC236}">
                <a16:creationId xmlns:a16="http://schemas.microsoft.com/office/drawing/2014/main" id="{0233B36B-2925-0824-FCC1-076A472759B9}"/>
              </a:ext>
            </a:extLst>
          </p:cNvPr>
          <p:cNvSpPr>
            <a:spLocks noGrp="1"/>
          </p:cNvSpPr>
          <p:nvPr>
            <p:ph type="subTitle" idx="10"/>
          </p:nvPr>
        </p:nvSpPr>
        <p:spPr/>
        <p:txBody>
          <a:bodyPr/>
          <a:lstStyle/>
          <a:p>
            <a:endParaRPr lang="en-IT"/>
          </a:p>
        </p:txBody>
      </p:sp>
      <p:pic>
        <p:nvPicPr>
          <p:cNvPr id="16" name="Picture 15">
            <a:extLst>
              <a:ext uri="{FF2B5EF4-FFF2-40B4-BE49-F238E27FC236}">
                <a16:creationId xmlns:a16="http://schemas.microsoft.com/office/drawing/2014/main" id="{9FC26516-BBD7-A9AD-B068-DD0CE8649D96}"/>
              </a:ext>
            </a:extLst>
          </p:cNvPr>
          <p:cNvPicPr>
            <a:picLocks noChangeAspect="1"/>
          </p:cNvPicPr>
          <p:nvPr/>
        </p:nvPicPr>
        <p:blipFill>
          <a:blip r:embed="rId3"/>
          <a:srcRect l="12158" r="12365"/>
          <a:stretch>
            <a:fillRect/>
          </a:stretch>
        </p:blipFill>
        <p:spPr>
          <a:xfrm>
            <a:off x="518138" y="1225212"/>
            <a:ext cx="4612443" cy="3437451"/>
          </a:xfrm>
          <a:prstGeom prst="rect">
            <a:avLst/>
          </a:prstGeom>
        </p:spPr>
      </p:pic>
      <p:sp>
        <p:nvSpPr>
          <p:cNvPr id="17" name="TextBox 16">
            <a:extLst>
              <a:ext uri="{FF2B5EF4-FFF2-40B4-BE49-F238E27FC236}">
                <a16:creationId xmlns:a16="http://schemas.microsoft.com/office/drawing/2014/main" id="{90635EB1-6758-DA0D-97DE-C6BDAEE47C68}"/>
              </a:ext>
            </a:extLst>
          </p:cNvPr>
          <p:cNvSpPr txBox="1"/>
          <p:nvPr/>
        </p:nvSpPr>
        <p:spPr>
          <a:xfrm>
            <a:off x="5309421" y="1304517"/>
            <a:ext cx="3755923" cy="3139321"/>
          </a:xfrm>
          <a:prstGeom prst="rect">
            <a:avLst/>
          </a:prstGeom>
          <a:noFill/>
        </p:spPr>
        <p:txBody>
          <a:bodyPr wrap="square" rtlCol="0">
            <a:spAutoFit/>
          </a:bodyPr>
          <a:lstStyle/>
          <a:p>
            <a:r>
              <a:rPr lang="en-US" sz="1600" b="1" dirty="0"/>
              <a:t>Fills up faster than you think</a:t>
            </a:r>
          </a:p>
          <a:p>
            <a:endParaRPr lang="en-US" sz="1400" dirty="0"/>
          </a:p>
          <a:p>
            <a:r>
              <a:rPr lang="en-US" sz="1400" b="1" dirty="0"/>
              <a:t>Tips to manage it:</a:t>
            </a:r>
          </a:p>
          <a:p>
            <a:pPr marL="285750" indent="-285750">
              <a:buFontTx/>
              <a:buChar char="–"/>
            </a:pPr>
            <a:r>
              <a:rPr lang="en-US" sz="1400" dirty="0"/>
              <a:t>Start and iterate in </a:t>
            </a:r>
            <a:r>
              <a:rPr lang="en-US" sz="1400" b="1" dirty="0"/>
              <a:t>Plan Mode </a:t>
            </a:r>
            <a:r>
              <a:rPr lang="en-US" sz="1400" dirty="0"/>
              <a:t>before running code</a:t>
            </a:r>
          </a:p>
          <a:p>
            <a:pPr marL="285750" indent="-285750">
              <a:buFontTx/>
              <a:buChar char="–"/>
            </a:pPr>
            <a:r>
              <a:rPr lang="en-US" sz="1400" dirty="0"/>
              <a:t>Use </a:t>
            </a:r>
            <a:r>
              <a:rPr lang="en-US" sz="1400" b="1" dirty="0"/>
              <a:t>@file </a:t>
            </a:r>
            <a:r>
              <a:rPr lang="en-US" sz="1400" dirty="0"/>
              <a:t>to reference specific files — saves unnecessary searching</a:t>
            </a:r>
          </a:p>
          <a:p>
            <a:pPr marL="285750" indent="-285750">
              <a:buFontTx/>
              <a:buChar char="–"/>
            </a:pPr>
            <a:r>
              <a:rPr lang="en-US" sz="1400" b="1" dirty="0"/>
              <a:t>Rewind</a:t>
            </a:r>
            <a:r>
              <a:rPr lang="en-US" sz="1400" dirty="0"/>
              <a:t> tangents (brainstorms, dead ends) to reclaim context</a:t>
            </a:r>
          </a:p>
          <a:p>
            <a:endParaRPr lang="en-US" sz="1400" dirty="0"/>
          </a:p>
          <a:p>
            <a:r>
              <a:rPr lang="en-US" sz="1400" b="1" dirty="0"/>
              <a:t>Slash commands:</a:t>
            </a:r>
          </a:p>
          <a:p>
            <a:pPr marL="285750" indent="-285750">
              <a:buFontTx/>
              <a:buChar char="–"/>
            </a:pPr>
            <a:r>
              <a:rPr lang="en-US" sz="1400" b="1" dirty="0"/>
              <a:t>/context</a:t>
            </a:r>
            <a:r>
              <a:rPr lang="en-US" sz="1400" dirty="0"/>
              <a:t> — view context usage</a:t>
            </a:r>
          </a:p>
          <a:p>
            <a:pPr marL="285750" indent="-285750">
              <a:buFontTx/>
              <a:buChar char="–"/>
            </a:pPr>
            <a:r>
              <a:rPr lang="en-US" sz="1400" b="1" dirty="0"/>
              <a:t>/clear</a:t>
            </a:r>
            <a:r>
              <a:rPr lang="en-US" sz="1400" dirty="0"/>
              <a:t> — clear conversation history</a:t>
            </a:r>
          </a:p>
          <a:p>
            <a:pPr marL="285750" indent="-285750">
              <a:buFontTx/>
              <a:buChar char="–"/>
            </a:pPr>
            <a:r>
              <a:rPr lang="en-US" sz="1400" b="1" dirty="0"/>
              <a:t>/compact</a:t>
            </a:r>
            <a:r>
              <a:rPr lang="en-US" sz="1400" dirty="0"/>
              <a:t> — summarise conversation</a:t>
            </a:r>
          </a:p>
        </p:txBody>
      </p:sp>
    </p:spTree>
    <p:extLst>
      <p:ext uri="{BB962C8B-B14F-4D97-AF65-F5344CB8AC3E}">
        <p14:creationId xmlns:p14="http://schemas.microsoft.com/office/powerpoint/2010/main" val="1652074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E3762-8D63-6708-7FAF-6565779CB74D}"/>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CA6D18D-7B48-3B78-AB49-FD036AB6B395}"/>
              </a:ext>
            </a:extLst>
          </p:cNvPr>
          <p:cNvSpPr>
            <a:spLocks noGrp="1"/>
          </p:cNvSpPr>
          <p:nvPr>
            <p:ph sz="half" idx="1"/>
          </p:nvPr>
        </p:nvSpPr>
        <p:spPr>
          <a:xfrm>
            <a:off x="912519" y="1776284"/>
            <a:ext cx="2573695" cy="2397784"/>
          </a:xfrm>
        </p:spPr>
        <p:txBody>
          <a:bodyPr/>
          <a:lstStyle/>
          <a:p>
            <a:endParaRPr lang="en-US" sz="1800" dirty="0"/>
          </a:p>
          <a:p>
            <a:pPr lvl="2"/>
            <a:r>
              <a:rPr lang="en-US" sz="1800" b="1" dirty="0"/>
              <a:t>Project-level</a:t>
            </a:r>
          </a:p>
          <a:p>
            <a:pPr lvl="2"/>
            <a:r>
              <a:rPr lang="en-US" sz="1800" dirty="0">
                <a:solidFill>
                  <a:srgbClr val="999999"/>
                </a:solidFill>
              </a:rPr>
              <a:t>./.</a:t>
            </a:r>
            <a:r>
              <a:rPr lang="en-US" sz="1800" dirty="0" err="1">
                <a:solidFill>
                  <a:srgbClr val="999999"/>
                </a:solidFill>
              </a:rPr>
              <a:t>claude</a:t>
            </a:r>
            <a:r>
              <a:rPr lang="en-US" sz="1800" dirty="0">
                <a:solidFill>
                  <a:srgbClr val="999999"/>
                </a:solidFill>
              </a:rPr>
              <a:t>/</a:t>
            </a:r>
            <a:r>
              <a:rPr lang="en-US" sz="1800" dirty="0" err="1">
                <a:solidFill>
                  <a:srgbClr val="999999"/>
                </a:solidFill>
              </a:rPr>
              <a:t>CLAUDE.md</a:t>
            </a:r>
            <a:endParaRPr lang="en-US" sz="1800" dirty="0">
              <a:solidFill>
                <a:srgbClr val="999999"/>
              </a:solidFill>
            </a:endParaRPr>
          </a:p>
          <a:p>
            <a:pPr lvl="2"/>
            <a:endParaRPr lang="en-US" sz="1800" dirty="0"/>
          </a:p>
          <a:p>
            <a:pPr lvl="2"/>
            <a:r>
              <a:rPr lang="en-US" sz="1800" b="1" dirty="0"/>
              <a:t>User-level</a:t>
            </a:r>
          </a:p>
          <a:p>
            <a:pPr lvl="2"/>
            <a:r>
              <a:rPr lang="en-US" sz="1800" dirty="0">
                <a:solidFill>
                  <a:srgbClr val="999999"/>
                </a:solidFill>
              </a:rPr>
              <a:t>~/.</a:t>
            </a:r>
            <a:r>
              <a:rPr lang="en-US" sz="1800" dirty="0" err="1">
                <a:solidFill>
                  <a:srgbClr val="999999"/>
                </a:solidFill>
              </a:rPr>
              <a:t>claude</a:t>
            </a:r>
            <a:r>
              <a:rPr lang="en-US" sz="1800" dirty="0">
                <a:solidFill>
                  <a:srgbClr val="999999"/>
                </a:solidFill>
              </a:rPr>
              <a:t>/</a:t>
            </a:r>
            <a:r>
              <a:rPr lang="en-US" sz="1800" dirty="0" err="1">
                <a:solidFill>
                  <a:srgbClr val="999999"/>
                </a:solidFill>
              </a:rPr>
              <a:t>CLAUDE.md</a:t>
            </a:r>
            <a:endParaRPr lang="en-US" sz="1800" dirty="0">
              <a:solidFill>
                <a:srgbClr val="999999"/>
              </a:solidFill>
            </a:endParaRPr>
          </a:p>
        </p:txBody>
      </p:sp>
      <p:sp>
        <p:nvSpPr>
          <p:cNvPr id="6" name="Title 5">
            <a:extLst>
              <a:ext uri="{FF2B5EF4-FFF2-40B4-BE49-F238E27FC236}">
                <a16:creationId xmlns:a16="http://schemas.microsoft.com/office/drawing/2014/main" id="{797A03C6-C671-BBCD-EFC5-52E04A512BD5}"/>
              </a:ext>
            </a:extLst>
          </p:cNvPr>
          <p:cNvSpPr>
            <a:spLocks noGrp="1"/>
          </p:cNvSpPr>
          <p:nvPr>
            <p:ph type="title"/>
          </p:nvPr>
        </p:nvSpPr>
        <p:spPr/>
        <p:txBody>
          <a:bodyPr/>
          <a:lstStyle/>
          <a:p>
            <a:r>
              <a:rPr lang="en-US" b="1" dirty="0"/>
              <a:t>HOW CLAUDE REMEMBERS</a:t>
            </a:r>
          </a:p>
        </p:txBody>
      </p:sp>
      <p:sp>
        <p:nvSpPr>
          <p:cNvPr id="8" name="Subtitle 7">
            <a:extLst>
              <a:ext uri="{FF2B5EF4-FFF2-40B4-BE49-F238E27FC236}">
                <a16:creationId xmlns:a16="http://schemas.microsoft.com/office/drawing/2014/main" id="{2CA10811-5A73-C0F1-AFA8-7A498F8A52CC}"/>
              </a:ext>
            </a:extLst>
          </p:cNvPr>
          <p:cNvSpPr>
            <a:spLocks noGrp="1"/>
          </p:cNvSpPr>
          <p:nvPr>
            <p:ph type="subTitle" idx="10"/>
          </p:nvPr>
        </p:nvSpPr>
        <p:spPr/>
        <p:txBody>
          <a:bodyPr/>
          <a:lstStyle/>
          <a:p>
            <a:endParaRPr lang="en-IT"/>
          </a:p>
        </p:txBody>
      </p:sp>
      <p:pic>
        <p:nvPicPr>
          <p:cNvPr id="11" name="Picture 10" descr="A screenshot of a computer&#10;&#10;AI-generated content may be incorrect.">
            <a:extLst>
              <a:ext uri="{FF2B5EF4-FFF2-40B4-BE49-F238E27FC236}">
                <a16:creationId xmlns:a16="http://schemas.microsoft.com/office/drawing/2014/main" id="{6C268D38-8C3D-25B4-EF32-63E157FA1891}"/>
              </a:ext>
            </a:extLst>
          </p:cNvPr>
          <p:cNvPicPr>
            <a:picLocks noChangeAspect="1"/>
          </p:cNvPicPr>
          <p:nvPr/>
        </p:nvPicPr>
        <p:blipFill>
          <a:blip r:embed="rId3"/>
          <a:srcRect b="15099"/>
          <a:stretch>
            <a:fillRect/>
          </a:stretch>
        </p:blipFill>
        <p:spPr>
          <a:xfrm>
            <a:off x="3843697" y="1208724"/>
            <a:ext cx="4607780" cy="3526585"/>
          </a:xfrm>
          <a:prstGeom prst="rect">
            <a:avLst/>
          </a:prstGeom>
        </p:spPr>
      </p:pic>
      <p:sp>
        <p:nvSpPr>
          <p:cNvPr id="12" name="TextBox 11">
            <a:extLst>
              <a:ext uri="{FF2B5EF4-FFF2-40B4-BE49-F238E27FC236}">
                <a16:creationId xmlns:a16="http://schemas.microsoft.com/office/drawing/2014/main" id="{4B121F3A-7CDC-FFD6-C1B4-5B61262C74E7}"/>
              </a:ext>
            </a:extLst>
          </p:cNvPr>
          <p:cNvSpPr txBox="1"/>
          <p:nvPr/>
        </p:nvSpPr>
        <p:spPr>
          <a:xfrm>
            <a:off x="573852" y="1468507"/>
            <a:ext cx="2319866" cy="615553"/>
          </a:xfrm>
          <a:prstGeom prst="rect">
            <a:avLst/>
          </a:prstGeom>
          <a:noFill/>
        </p:spPr>
        <p:txBody>
          <a:bodyPr wrap="none" rtlCol="0">
            <a:spAutoFit/>
          </a:bodyPr>
          <a:lstStyle/>
          <a:p>
            <a:r>
              <a:rPr lang="en-US" sz="2000" b="1" dirty="0"/>
              <a:t>2 levels of scope:</a:t>
            </a:r>
          </a:p>
          <a:p>
            <a:endParaRPr lang="en-IT" sz="1400" dirty="0" err="1"/>
          </a:p>
        </p:txBody>
      </p:sp>
      <p:sp>
        <p:nvSpPr>
          <p:cNvPr id="4" name="Rectangle 3">
            <a:extLst>
              <a:ext uri="{FF2B5EF4-FFF2-40B4-BE49-F238E27FC236}">
                <a16:creationId xmlns:a16="http://schemas.microsoft.com/office/drawing/2014/main" id="{80AEC407-1799-DC82-7C9F-09BF40F0CE8B}"/>
              </a:ext>
            </a:extLst>
          </p:cNvPr>
          <p:cNvSpPr/>
          <p:nvPr/>
        </p:nvSpPr>
        <p:spPr>
          <a:xfrm>
            <a:off x="863602" y="2158999"/>
            <a:ext cx="2413000" cy="736600"/>
          </a:xfrm>
          <a:prstGeom prst="rect">
            <a:avLst/>
          </a:prstGeom>
          <a:solidFill>
            <a:schemeClr val="accent1">
              <a:alpha val="14851"/>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485923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B814-C750-7F8B-27DC-6B432C286F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AE0CB8E-62C8-9CE4-7952-3BE2118E872F}"/>
              </a:ext>
            </a:extLst>
          </p:cNvPr>
          <p:cNvSpPr>
            <a:spLocks noGrp="1"/>
          </p:cNvSpPr>
          <p:nvPr>
            <p:ph type="title"/>
          </p:nvPr>
        </p:nvSpPr>
        <p:spPr/>
        <p:txBody>
          <a:bodyPr/>
          <a:lstStyle/>
          <a:p>
            <a:r>
              <a:rPr lang="en-US" b="1" dirty="0"/>
              <a:t>HOW CLAUDE REMEMBERS</a:t>
            </a:r>
          </a:p>
        </p:txBody>
      </p:sp>
      <p:sp>
        <p:nvSpPr>
          <p:cNvPr id="5" name="Subtitle 4">
            <a:extLst>
              <a:ext uri="{FF2B5EF4-FFF2-40B4-BE49-F238E27FC236}">
                <a16:creationId xmlns:a16="http://schemas.microsoft.com/office/drawing/2014/main" id="{C590EAEC-3A46-DFFA-6910-75478A94F870}"/>
              </a:ext>
            </a:extLst>
          </p:cNvPr>
          <p:cNvSpPr>
            <a:spLocks noGrp="1"/>
          </p:cNvSpPr>
          <p:nvPr>
            <p:ph type="subTitle" idx="10"/>
          </p:nvPr>
        </p:nvSpPr>
        <p:spPr/>
        <p:txBody>
          <a:bodyPr/>
          <a:lstStyle/>
          <a:p>
            <a:endParaRPr lang="en-IT"/>
          </a:p>
        </p:txBody>
      </p:sp>
      <p:pic>
        <p:nvPicPr>
          <p:cNvPr id="11" name="Picture 10" descr="A screenshot of a computer&#10;&#10;AI-generated content may be incorrect.">
            <a:extLst>
              <a:ext uri="{FF2B5EF4-FFF2-40B4-BE49-F238E27FC236}">
                <a16:creationId xmlns:a16="http://schemas.microsoft.com/office/drawing/2014/main" id="{7388AA03-A1C3-F43B-3B63-3DFF0FA2012D}"/>
              </a:ext>
            </a:extLst>
          </p:cNvPr>
          <p:cNvPicPr>
            <a:picLocks noChangeAspect="1"/>
          </p:cNvPicPr>
          <p:nvPr/>
        </p:nvPicPr>
        <p:blipFill>
          <a:blip r:embed="rId3"/>
          <a:srcRect b="15099"/>
          <a:stretch>
            <a:fillRect/>
          </a:stretch>
        </p:blipFill>
        <p:spPr>
          <a:xfrm>
            <a:off x="3843697" y="1208724"/>
            <a:ext cx="4607780" cy="3526585"/>
          </a:xfrm>
          <a:prstGeom prst="rect">
            <a:avLst/>
          </a:prstGeom>
        </p:spPr>
      </p:pic>
      <p:sp>
        <p:nvSpPr>
          <p:cNvPr id="12" name="TextBox 11">
            <a:extLst>
              <a:ext uri="{FF2B5EF4-FFF2-40B4-BE49-F238E27FC236}">
                <a16:creationId xmlns:a16="http://schemas.microsoft.com/office/drawing/2014/main" id="{D77CB69B-871D-2526-4C0E-47BA46A0C4F4}"/>
              </a:ext>
            </a:extLst>
          </p:cNvPr>
          <p:cNvSpPr txBox="1"/>
          <p:nvPr/>
        </p:nvSpPr>
        <p:spPr>
          <a:xfrm>
            <a:off x="573852" y="1468507"/>
            <a:ext cx="2319866" cy="615553"/>
          </a:xfrm>
          <a:prstGeom prst="rect">
            <a:avLst/>
          </a:prstGeom>
          <a:noFill/>
        </p:spPr>
        <p:txBody>
          <a:bodyPr wrap="none" rtlCol="0">
            <a:spAutoFit/>
          </a:bodyPr>
          <a:lstStyle/>
          <a:p>
            <a:r>
              <a:rPr lang="en-US" sz="2000" b="1" dirty="0"/>
              <a:t>2 levels of scope:</a:t>
            </a:r>
          </a:p>
          <a:p>
            <a:endParaRPr lang="en-IT" sz="1400" dirty="0" err="1"/>
          </a:p>
        </p:txBody>
      </p:sp>
      <p:pic>
        <p:nvPicPr>
          <p:cNvPr id="3" name="Picture 2" descr="A screenshot of a computer&#10;&#10;AI-generated content may be incorrect.">
            <a:extLst>
              <a:ext uri="{FF2B5EF4-FFF2-40B4-BE49-F238E27FC236}">
                <a16:creationId xmlns:a16="http://schemas.microsoft.com/office/drawing/2014/main" id="{950B91C1-B414-398B-A410-20C382E8E8AF}"/>
              </a:ext>
            </a:extLst>
          </p:cNvPr>
          <p:cNvPicPr>
            <a:picLocks noChangeAspect="1"/>
          </p:cNvPicPr>
          <p:nvPr/>
        </p:nvPicPr>
        <p:blipFill>
          <a:blip r:embed="rId4"/>
          <a:stretch>
            <a:fillRect/>
          </a:stretch>
        </p:blipFill>
        <p:spPr>
          <a:xfrm>
            <a:off x="3843697" y="1208724"/>
            <a:ext cx="4613794" cy="3447943"/>
          </a:xfrm>
          <a:prstGeom prst="rect">
            <a:avLst/>
          </a:prstGeom>
        </p:spPr>
      </p:pic>
      <p:sp>
        <p:nvSpPr>
          <p:cNvPr id="2" name="Rectangle 1">
            <a:extLst>
              <a:ext uri="{FF2B5EF4-FFF2-40B4-BE49-F238E27FC236}">
                <a16:creationId xmlns:a16="http://schemas.microsoft.com/office/drawing/2014/main" id="{B35BE429-2408-9111-1BB4-F91D1527E471}"/>
              </a:ext>
            </a:extLst>
          </p:cNvPr>
          <p:cNvSpPr/>
          <p:nvPr/>
        </p:nvSpPr>
        <p:spPr>
          <a:xfrm>
            <a:off x="875310" y="3379969"/>
            <a:ext cx="2413000" cy="736600"/>
          </a:xfrm>
          <a:prstGeom prst="rect">
            <a:avLst/>
          </a:prstGeom>
          <a:solidFill>
            <a:schemeClr val="accent1">
              <a:alpha val="14851"/>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T"/>
          </a:p>
        </p:txBody>
      </p:sp>
      <p:sp>
        <p:nvSpPr>
          <p:cNvPr id="10" name="Content Placeholder 6">
            <a:extLst>
              <a:ext uri="{FF2B5EF4-FFF2-40B4-BE49-F238E27FC236}">
                <a16:creationId xmlns:a16="http://schemas.microsoft.com/office/drawing/2014/main" id="{BDA029FF-CB8B-B89C-1718-2296D88AB673}"/>
              </a:ext>
            </a:extLst>
          </p:cNvPr>
          <p:cNvSpPr>
            <a:spLocks noGrp="1"/>
          </p:cNvSpPr>
          <p:nvPr>
            <p:ph sz="half" idx="1"/>
          </p:nvPr>
        </p:nvSpPr>
        <p:spPr>
          <a:xfrm>
            <a:off x="912519" y="1776284"/>
            <a:ext cx="2573695" cy="2397784"/>
          </a:xfrm>
        </p:spPr>
        <p:txBody>
          <a:bodyPr/>
          <a:lstStyle/>
          <a:p>
            <a:endParaRPr lang="en-US" sz="1800" dirty="0"/>
          </a:p>
          <a:p>
            <a:pPr lvl="2"/>
            <a:r>
              <a:rPr lang="en-US" sz="1800" b="1" dirty="0"/>
              <a:t>Project-level</a:t>
            </a:r>
          </a:p>
          <a:p>
            <a:pPr lvl="2"/>
            <a:r>
              <a:rPr lang="en-US" sz="1800" dirty="0">
                <a:solidFill>
                  <a:srgbClr val="999999"/>
                </a:solidFill>
              </a:rPr>
              <a:t>./.</a:t>
            </a:r>
            <a:r>
              <a:rPr lang="en-US" sz="1800" dirty="0" err="1">
                <a:solidFill>
                  <a:srgbClr val="999999"/>
                </a:solidFill>
              </a:rPr>
              <a:t>claude</a:t>
            </a:r>
            <a:r>
              <a:rPr lang="en-US" sz="1800" dirty="0">
                <a:solidFill>
                  <a:srgbClr val="999999"/>
                </a:solidFill>
              </a:rPr>
              <a:t>/</a:t>
            </a:r>
            <a:r>
              <a:rPr lang="en-US" sz="1800" dirty="0" err="1">
                <a:solidFill>
                  <a:srgbClr val="999999"/>
                </a:solidFill>
              </a:rPr>
              <a:t>CLAUDE.md</a:t>
            </a:r>
            <a:endParaRPr lang="en-US" sz="1800" dirty="0">
              <a:solidFill>
                <a:srgbClr val="999999"/>
              </a:solidFill>
            </a:endParaRPr>
          </a:p>
          <a:p>
            <a:pPr lvl="2"/>
            <a:endParaRPr lang="en-US" sz="1800" dirty="0"/>
          </a:p>
          <a:p>
            <a:pPr lvl="2"/>
            <a:r>
              <a:rPr lang="en-US" sz="1800" b="1" dirty="0"/>
              <a:t>User-level</a:t>
            </a:r>
          </a:p>
          <a:p>
            <a:pPr lvl="2"/>
            <a:r>
              <a:rPr lang="en-US" sz="1800" dirty="0">
                <a:solidFill>
                  <a:srgbClr val="999999"/>
                </a:solidFill>
              </a:rPr>
              <a:t>~/.</a:t>
            </a:r>
            <a:r>
              <a:rPr lang="en-US" sz="1800" dirty="0" err="1">
                <a:solidFill>
                  <a:srgbClr val="999999"/>
                </a:solidFill>
              </a:rPr>
              <a:t>claude</a:t>
            </a:r>
            <a:r>
              <a:rPr lang="en-US" sz="1800" dirty="0">
                <a:solidFill>
                  <a:srgbClr val="999999"/>
                </a:solidFill>
              </a:rPr>
              <a:t>/</a:t>
            </a:r>
            <a:r>
              <a:rPr lang="en-US" sz="1800" dirty="0" err="1">
                <a:solidFill>
                  <a:srgbClr val="999999"/>
                </a:solidFill>
              </a:rPr>
              <a:t>CLAUDE.md</a:t>
            </a:r>
            <a:endParaRPr lang="en-US" sz="1800" dirty="0">
              <a:solidFill>
                <a:srgbClr val="999999"/>
              </a:solidFill>
            </a:endParaRPr>
          </a:p>
        </p:txBody>
      </p:sp>
    </p:spTree>
    <p:extLst>
      <p:ext uri="{BB962C8B-B14F-4D97-AF65-F5344CB8AC3E}">
        <p14:creationId xmlns:p14="http://schemas.microsoft.com/office/powerpoint/2010/main" val="1358774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sz="4400" b="1" dirty="0"/>
              <a:t>EXTENDING CLAUDE</a:t>
            </a:r>
          </a:p>
          <a:p>
            <a:r>
              <a:rPr lang="en-US" sz="2400" dirty="0"/>
              <a:t>Skills  ·  </a:t>
            </a:r>
            <a:r>
              <a:rPr lang="en-US" sz="2400" dirty="0" err="1"/>
              <a:t>mcp</a:t>
            </a:r>
            <a:r>
              <a:rPr lang="en-US" sz="2400" dirty="0"/>
              <a:t>  ·  Subagents  ·  Hooks</a:t>
            </a:r>
          </a:p>
        </p:txBody>
      </p:sp>
    </p:spTree>
    <p:extLst>
      <p:ext uri="{BB962C8B-B14F-4D97-AF65-F5344CB8AC3E}">
        <p14:creationId xmlns:p14="http://schemas.microsoft.com/office/powerpoint/2010/main" val="1623805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SKILLS</a:t>
            </a:r>
          </a:p>
        </p:txBody>
      </p:sp>
      <p:sp>
        <p:nvSpPr>
          <p:cNvPr id="4" name="Text Placeholder 3"/>
          <p:cNvSpPr>
            <a:spLocks noGrp="1"/>
          </p:cNvSpPr>
          <p:nvPr>
            <p:ph type="body" sz="quarter" idx="10"/>
          </p:nvPr>
        </p:nvSpPr>
        <p:spPr/>
        <p:txBody>
          <a:bodyPr/>
          <a:lstStyle/>
          <a:p>
            <a:r>
              <a:rPr lang="en-US" sz="1800" b="1" dirty="0"/>
              <a:t>Reference skills</a:t>
            </a:r>
          </a:p>
          <a:p>
            <a:r>
              <a:rPr lang="en-US" sz="1700" dirty="0"/>
              <a:t>Knowledge Claude uses throughout the session</a:t>
            </a:r>
          </a:p>
          <a:p>
            <a:pPr marL="285750" indent="-285750">
              <a:buClr>
                <a:schemeClr val="tx2"/>
              </a:buClr>
              <a:buSzPct val="130000"/>
              <a:buFont typeface="Wingdings" panose="05000000000000000000" pitchFamily="2" charset="2"/>
              <a:buChar char="§"/>
            </a:pPr>
            <a:r>
              <a:rPr lang="en-US" dirty="0"/>
              <a:t>API style guide, database schema, architecture decisions</a:t>
            </a:r>
          </a:p>
          <a:p>
            <a:endParaRPr lang="en-US" dirty="0"/>
          </a:p>
          <a:p>
            <a:r>
              <a:rPr lang="en-US" sz="1800" b="1" dirty="0"/>
              <a:t>Action skills  (invoke with /skill-name)</a:t>
            </a:r>
          </a:p>
          <a:p>
            <a:r>
              <a:rPr lang="en-US" sz="1700" dirty="0"/>
              <a:t>Trigger specific workflows on demand</a:t>
            </a:r>
          </a:p>
          <a:p>
            <a:pPr marL="285750" indent="-285750">
              <a:buClr>
                <a:schemeClr val="tx2"/>
              </a:buClr>
              <a:buSzPct val="130000"/>
              <a:buFont typeface="Wingdings" panose="05000000000000000000" pitchFamily="2" charset="2"/>
              <a:buChar char="§"/>
            </a:pPr>
            <a:r>
              <a:rPr lang="en-US" dirty="0"/>
              <a:t>/deploy, /security-check,  /write-release-notes</a:t>
            </a:r>
          </a:p>
        </p:txBody>
      </p:sp>
      <p:sp>
        <p:nvSpPr>
          <p:cNvPr id="6" name="Subtitle 5">
            <a:extLst>
              <a:ext uri="{FF2B5EF4-FFF2-40B4-BE49-F238E27FC236}">
                <a16:creationId xmlns:a16="http://schemas.microsoft.com/office/drawing/2014/main" id="{FC13E073-94BA-C13D-81F6-227479A68994}"/>
              </a:ext>
            </a:extLst>
          </p:cNvPr>
          <p:cNvSpPr>
            <a:spLocks noGrp="1"/>
          </p:cNvSpPr>
          <p:nvPr>
            <p:ph type="subTitle" idx="1"/>
          </p:nvPr>
        </p:nvSpPr>
        <p:spPr/>
        <p:txBody>
          <a:bodyPr/>
          <a:lstStyle/>
          <a:p>
            <a:r>
              <a:rPr lang="en-GB" dirty="0"/>
              <a:t>extend Claude with reusable instructions</a:t>
            </a:r>
            <a:endParaRPr lang="en-IT" dirty="0"/>
          </a:p>
        </p:txBody>
      </p:sp>
      <p:sp>
        <p:nvSpPr>
          <p:cNvPr id="20" name="Divider"/>
          <p:cNvSpPr>
            <a:spLocks noChangeArrowheads="1"/>
          </p:cNvSpPr>
          <p:nvPr/>
        </p:nvSpPr>
        <p:spPr>
          <a:xfrm>
            <a:off x="5715000" y="1383264"/>
            <a:ext cx="12700" cy="3098800"/>
          </a:xfrm>
          <a:prstGeom prst="rect">
            <a:avLst/>
          </a:prstGeom>
          <a:solidFill>
            <a:srgbClr val="DDDDDD"/>
          </a:solidFill>
          <a:ln>
            <a:noFill/>
          </a:ln>
        </p:spPr>
        <p:txBody>
          <a:bodyPr/>
          <a:lstStyle/>
          <a:p>
            <a:endParaRPr lang="en-US" dirty="0"/>
          </a:p>
        </p:txBody>
      </p:sp>
      <p:sp>
        <p:nvSpPr>
          <p:cNvPr id="21" name="RightTitle"/>
          <p:cNvSpPr txBox="1">
            <a:spLocks noChangeArrowheads="1"/>
          </p:cNvSpPr>
          <p:nvPr/>
        </p:nvSpPr>
        <p:spPr>
          <a:xfrm>
            <a:off x="5867400" y="1383264"/>
            <a:ext cx="2641600" cy="285750"/>
          </a:xfrm>
          <a:prstGeom prst="rect">
            <a:avLst/>
          </a:prstGeom>
          <a:noFill/>
        </p:spPr>
        <p:txBody>
          <a:bodyPr wrap="square" lIns="0" tIns="0" rIns="0" bIns="0"/>
          <a:lstStyle/>
          <a:p>
            <a:r>
              <a:rPr lang="en-US" sz="1100" b="1" dirty="0">
                <a:solidFill>
                  <a:srgbClr val="FFFFFF"/>
                </a:solidFill>
              </a:rPr>
              <a:t>SKILL.md structure</a:t>
            </a:r>
          </a:p>
        </p:txBody>
      </p:sp>
      <p:sp>
        <p:nvSpPr>
          <p:cNvPr id="22" name="FrontMatterBox"/>
          <p:cNvSpPr txBox="1"/>
          <p:nvPr/>
        </p:nvSpPr>
        <p:spPr>
          <a:xfrm>
            <a:off x="5867400" y="1725964"/>
            <a:ext cx="2641600" cy="1270000"/>
          </a:xfrm>
          <a:prstGeom prst="rect">
            <a:avLst/>
          </a:prstGeom>
          <a:solidFill>
            <a:srgbClr val="1A3A2A"/>
          </a:solidFill>
          <a:ln w="12700">
            <a:solidFill>
              <a:srgbClr val="00B140"/>
            </a:solidFill>
          </a:ln>
        </p:spPr>
        <p:txBody>
          <a:bodyPr wrap="square" lIns="120000" tIns="100000" rIns="120000" bIns="100000"/>
          <a:lstStyle/>
          <a:p>
            <a:r>
              <a:rPr lang="en-US" sz="1400" b="1" dirty="0">
                <a:solidFill>
                  <a:srgbClr val="8EF050"/>
                </a:solidFill>
              </a:rPr>
              <a:t>Front Matter</a:t>
            </a:r>
          </a:p>
          <a:p>
            <a:r>
              <a:rPr lang="en-US" sz="1100" dirty="0">
                <a:solidFill>
                  <a:srgbClr val="FFFFFF"/>
                </a:solidFill>
              </a:rPr>
              <a:t>name + description</a:t>
            </a:r>
          </a:p>
          <a:p>
            <a:endParaRPr lang="en-US" dirty="0"/>
          </a:p>
          <a:p>
            <a:r>
              <a:rPr lang="en-US" sz="1050" dirty="0">
                <a:solidFill>
                  <a:srgbClr val="B8F09A"/>
                </a:solidFill>
              </a:rPr>
              <a:t>Always in context — lets Claude decide</a:t>
            </a:r>
          </a:p>
          <a:p>
            <a:r>
              <a:rPr lang="en-US" sz="1050" dirty="0">
                <a:solidFill>
                  <a:srgbClr val="B8F09A"/>
                </a:solidFill>
              </a:rPr>
              <a:t>whether to invoke the skill.</a:t>
            </a:r>
          </a:p>
        </p:txBody>
      </p:sp>
      <p:sp>
        <p:nvSpPr>
          <p:cNvPr id="23" name="Arrow"/>
          <p:cNvSpPr txBox="1"/>
          <p:nvPr/>
        </p:nvSpPr>
        <p:spPr>
          <a:xfrm>
            <a:off x="7061200" y="2730500"/>
            <a:ext cx="400000" cy="350000"/>
          </a:xfrm>
          <a:prstGeom prst="rect">
            <a:avLst/>
          </a:prstGeom>
          <a:noFill/>
        </p:spPr>
        <p:txBody>
          <a:bodyPr wrap="square" lIns="0" tIns="0" rIns="0" bIns="0"/>
          <a:lstStyle/>
          <a:p>
            <a:pPr algn="ctr"/>
            <a:r>
              <a:rPr lang="en-US" sz="1600" b="1" dirty="0">
                <a:solidFill>
                  <a:srgbClr val="888888"/>
                </a:solidFill>
              </a:rPr>
              <a:t>↓</a:t>
            </a:r>
          </a:p>
        </p:txBody>
      </p:sp>
      <p:sp>
        <p:nvSpPr>
          <p:cNvPr id="24" name="BodyBox"/>
          <p:cNvSpPr txBox="1"/>
          <p:nvPr/>
        </p:nvSpPr>
        <p:spPr>
          <a:xfrm>
            <a:off x="5867400" y="3211864"/>
            <a:ext cx="2641600" cy="1270000"/>
          </a:xfrm>
          <a:prstGeom prst="rect">
            <a:avLst/>
          </a:prstGeom>
          <a:solidFill>
            <a:srgbClr val="0D2540"/>
          </a:solidFill>
          <a:ln w="12700">
            <a:solidFill>
              <a:srgbClr val="2E7CFA"/>
            </a:solidFill>
          </a:ln>
        </p:spPr>
        <p:txBody>
          <a:bodyPr wrap="square" lIns="120000" tIns="100000" rIns="120000" bIns="100000"/>
          <a:lstStyle/>
          <a:p>
            <a:r>
              <a:rPr lang="en-US" sz="1400" b="1" dirty="0">
                <a:solidFill>
                  <a:srgbClr val="2E7CFA"/>
                </a:solidFill>
              </a:rPr>
              <a:t>Body</a:t>
            </a:r>
            <a:endParaRPr lang="en-US" sz="1200" b="1" dirty="0">
              <a:solidFill>
                <a:srgbClr val="2E7CFA"/>
              </a:solidFill>
            </a:endParaRPr>
          </a:p>
          <a:p>
            <a:r>
              <a:rPr lang="en-US" sz="1100" dirty="0">
                <a:solidFill>
                  <a:srgbClr val="FFFFFF"/>
                </a:solidFill>
              </a:rPr>
              <a:t>full instructions + assets</a:t>
            </a:r>
          </a:p>
          <a:p>
            <a:endParaRPr lang="en-US" dirty="0"/>
          </a:p>
          <a:p>
            <a:r>
              <a:rPr lang="en-US" sz="1050" dirty="0">
                <a:solidFill>
                  <a:srgbClr val="90B8FF"/>
                </a:solidFill>
              </a:rPr>
              <a:t>Loaded only when skill is invoked.</a:t>
            </a:r>
          </a:p>
          <a:p>
            <a:r>
              <a:rPr lang="en-US" sz="1050" dirty="0">
                <a:solidFill>
                  <a:srgbClr val="90B8FF"/>
                </a:solidFill>
              </a:rPr>
              <a:t>Keeps context lean.</a:t>
            </a:r>
          </a:p>
        </p:txBody>
      </p:sp>
      <p:sp>
        <p:nvSpPr>
          <p:cNvPr id="3" name="InfoBar">
            <a:extLst>
              <a:ext uri="{FF2B5EF4-FFF2-40B4-BE49-F238E27FC236}">
                <a16:creationId xmlns:a16="http://schemas.microsoft.com/office/drawing/2014/main" id="{846C3582-6020-DF99-79B3-702A417A501D}"/>
              </a:ext>
            </a:extLst>
          </p:cNvPr>
          <p:cNvSpPr>
            <a:spLocks noGrp="1"/>
          </p:cNvSpPr>
          <p:nvPr/>
        </p:nvSpPr>
        <p:spPr>
          <a:xfrm>
            <a:off x="573852" y="4082011"/>
            <a:ext cx="2476500" cy="762000"/>
          </a:xfrm>
          <a:prstGeom prst="rect">
            <a:avLst/>
          </a:prstGeom>
          <a:solidFill>
            <a:srgbClr val="053238"/>
          </a:solidFill>
          <a:ln w="9144">
            <a:solidFill>
              <a:srgbClr val="8EF050">
                <a:alpha val="40000"/>
              </a:srgbClr>
            </a:solidFill>
          </a:ln>
        </p:spPr>
        <p:txBody>
          <a:bodyPr vertOverflow="clip" horzOverflow="clip" lIns="91440" tIns="45720" rIns="91440" bIns="45720" anchor="ctr"/>
          <a:lstStyle/>
          <a:p>
            <a:pPr algn="l">
              <a:buNone/>
            </a:pPr>
            <a:r>
              <a:rPr lang="en-US" sz="1400" b="1" dirty="0">
                <a:solidFill>
                  <a:srgbClr val="8EF050"/>
                </a:solidFill>
              </a:rPr>
              <a:t>SCOPES  </a:t>
            </a:r>
          </a:p>
          <a:p>
            <a:pPr algn="l">
              <a:buNone/>
            </a:pPr>
            <a:r>
              <a:rPr lang="en-US" sz="1400" dirty="0">
                <a:solidFill>
                  <a:srgbClr val="CCCCCC"/>
                </a:solidFill>
              </a:rPr>
              <a:t>Project: /.</a:t>
            </a:r>
            <a:r>
              <a:rPr lang="en-US" sz="1400" dirty="0" err="1">
                <a:solidFill>
                  <a:srgbClr val="CCCCCC"/>
                </a:solidFill>
              </a:rPr>
              <a:t>claude</a:t>
            </a:r>
            <a:r>
              <a:rPr lang="en-US" sz="1400" dirty="0">
                <a:solidFill>
                  <a:srgbClr val="CCCCCC"/>
                </a:solidFill>
              </a:rPr>
              <a:t>/skills/</a:t>
            </a:r>
          </a:p>
          <a:p>
            <a:pPr algn="l">
              <a:buNone/>
            </a:pPr>
            <a:r>
              <a:rPr lang="en-US" sz="1400" dirty="0">
                <a:solidFill>
                  <a:srgbClr val="CCCCCC"/>
                </a:solidFill>
              </a:rPr>
              <a:t>User: ~/.</a:t>
            </a:r>
            <a:r>
              <a:rPr lang="en-US" sz="1400" dirty="0" err="1">
                <a:solidFill>
                  <a:srgbClr val="CCCCCC"/>
                </a:solidFill>
              </a:rPr>
              <a:t>claude</a:t>
            </a:r>
            <a:r>
              <a:rPr lang="en-US" sz="1400" dirty="0">
                <a:solidFill>
                  <a:srgbClr val="CCCCCC"/>
                </a:solidFill>
              </a:rPr>
              <a:t>/skills/</a:t>
            </a:r>
          </a:p>
        </p:txBody>
      </p:sp>
    </p:spTree>
    <p:extLst>
      <p:ext uri="{BB962C8B-B14F-4D97-AF65-F5344CB8AC3E}">
        <p14:creationId xmlns:p14="http://schemas.microsoft.com/office/powerpoint/2010/main" val="850293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p:txBody>
          <a:bodyPr/>
          <a:lstStyle/>
          <a:p>
            <a:pPr>
              <a:buNone/>
            </a:pPr>
            <a:r>
              <a:rPr lang="en-US" sz="1400" dirty="0">
                <a:solidFill>
                  <a:srgbClr val="BBBBBB"/>
                </a:solidFill>
              </a:rPr>
              <a:t>Universal standard to connect Claude to any external tool or data source.</a:t>
            </a:r>
          </a:p>
          <a:p>
            <a:pPr>
              <a:buNone/>
            </a:pPr>
            <a:endParaRPr lang="en-US" sz="800" dirty="0"/>
          </a:p>
          <a:p>
            <a:pPr>
              <a:buNone/>
            </a:pPr>
            <a:r>
              <a:rPr lang="en-US" sz="1600" b="1" dirty="0"/>
              <a:t>Install MCP server</a:t>
            </a:r>
          </a:p>
        </p:txBody>
      </p:sp>
      <p:sp>
        <p:nvSpPr>
          <p:cNvPr id="8" name="Content Placeholder 7"/>
          <p:cNvSpPr>
            <a:spLocks noGrp="1"/>
          </p:cNvSpPr>
          <p:nvPr>
            <p:ph sz="half" idx="2"/>
          </p:nvPr>
        </p:nvSpPr>
        <p:spPr/>
        <p:txBody>
          <a:bodyPr/>
          <a:lstStyle/>
          <a:p>
            <a:pPr>
              <a:buNone/>
            </a:pPr>
            <a:r>
              <a:rPr lang="en-US" sz="1400" b="1" dirty="0">
                <a:solidFill>
                  <a:srgbClr val="8EF050"/>
                </a:solidFill>
              </a:rPr>
              <a:t>Connect to any service via MCP:</a:t>
            </a:r>
          </a:p>
        </p:txBody>
      </p:sp>
      <p:sp>
        <p:nvSpPr>
          <p:cNvPr id="6" name="Title 5"/>
          <p:cNvSpPr>
            <a:spLocks noGrp="1"/>
          </p:cNvSpPr>
          <p:nvPr>
            <p:ph type="title"/>
          </p:nvPr>
        </p:nvSpPr>
        <p:spPr/>
        <p:txBody>
          <a:bodyPr/>
          <a:lstStyle/>
          <a:p>
            <a:r>
              <a:rPr lang="en-US" b="1" dirty="0"/>
              <a:t>MCP</a:t>
            </a:r>
          </a:p>
        </p:txBody>
      </p:sp>
      <p:sp>
        <p:nvSpPr>
          <p:cNvPr id="3" name="Subtitle 2">
            <a:extLst>
              <a:ext uri="{FF2B5EF4-FFF2-40B4-BE49-F238E27FC236}">
                <a16:creationId xmlns:a16="http://schemas.microsoft.com/office/drawing/2014/main" id="{9E248D56-34DE-5FDF-395F-B94CFC973233}"/>
              </a:ext>
            </a:extLst>
          </p:cNvPr>
          <p:cNvSpPr>
            <a:spLocks noGrp="1"/>
          </p:cNvSpPr>
          <p:nvPr>
            <p:ph type="subTitle" idx="10"/>
          </p:nvPr>
        </p:nvSpPr>
        <p:spPr/>
        <p:txBody>
          <a:bodyPr/>
          <a:lstStyle/>
          <a:p>
            <a:r>
              <a:rPr lang="en-US" dirty="0"/>
              <a:t>Extend Claude with External Tools</a:t>
            </a:r>
          </a:p>
        </p:txBody>
      </p:sp>
      <p:sp>
        <p:nvSpPr>
          <p:cNvPr id="30" name="Divider"/>
          <p:cNvSpPr>
            <a:spLocks noGrp="1"/>
          </p:cNvSpPr>
          <p:nvPr/>
        </p:nvSpPr>
        <p:spPr>
          <a:xfrm>
            <a:off x="4399281" y="1465006"/>
            <a:ext cx="45719" cy="3157794"/>
          </a:xfrm>
          <a:prstGeom prst="rect">
            <a:avLst/>
          </a:prstGeom>
          <a:solidFill>
            <a:srgbClr val="2A2A2A"/>
          </a:solidFill>
          <a:ln>
            <a:noFill/>
          </a:ln>
        </p:spPr>
        <p:txBody>
          <a:bodyPr/>
          <a:lstStyle/>
          <a:p>
            <a:endParaRPr/>
          </a:p>
        </p:txBody>
      </p:sp>
      <p:sp>
        <p:nvSpPr>
          <p:cNvPr id="31" name="Logo_GitHub"/>
          <p:cNvSpPr>
            <a:spLocks noGrp="1"/>
          </p:cNvSpPr>
          <p:nvPr/>
        </p:nvSpPr>
        <p:spPr>
          <a:xfrm>
            <a:off x="4546600" y="1848874"/>
            <a:ext cx="1930400" cy="685800"/>
          </a:xfrm>
          <a:prstGeom prst="roundRect">
            <a:avLst>
              <a:gd name="adj" fmla="val 16667"/>
            </a:avLst>
          </a:prstGeom>
          <a:solidFill>
            <a:srgbClr val="1A1A1A"/>
          </a:solidFill>
          <a:ln w="12700">
            <a:solidFill>
              <a:srgbClr val="333333"/>
            </a:solidFill>
          </a:ln>
        </p:spPr>
        <p:txBody>
          <a:bodyPr anchor="ctr" anchorCtr="1">
            <a:normAutofit/>
          </a:bodyPr>
          <a:lstStyle/>
          <a:p>
            <a:pPr algn="l">
              <a:buNone/>
            </a:pPr>
            <a:r>
              <a:rPr lang="en-US" sz="1100" dirty="0">
                <a:solidFill>
                  <a:srgbClr val="FFFFFF"/>
                </a:solidFill>
              </a:rPr>
              <a:t>      Slack</a:t>
            </a:r>
          </a:p>
        </p:txBody>
      </p:sp>
      <p:sp>
        <p:nvSpPr>
          <p:cNvPr id="131" name="IconBox_GitHub"/>
          <p:cNvSpPr>
            <a:spLocks noGrp="1"/>
          </p:cNvSpPr>
          <p:nvPr/>
        </p:nvSpPr>
        <p:spPr>
          <a:xfrm>
            <a:off x="4622800" y="1963174"/>
            <a:ext cx="457200" cy="457200"/>
          </a:xfrm>
          <a:prstGeom prst="roundRect">
            <a:avLst>
              <a:gd name="adj" fmla="val 16667"/>
            </a:avLst>
          </a:prstGeom>
          <a:solidFill>
            <a:srgbClr val="2A2A2A"/>
          </a:solidFill>
          <a:ln w="9525">
            <a:solidFill>
              <a:srgbClr val="555555"/>
            </a:solidFill>
          </a:ln>
        </p:spPr>
        <p:txBody>
          <a:bodyPr anchor="ctr" anchorCtr="1">
            <a:noAutofit/>
          </a:bodyPr>
          <a:lstStyle/>
          <a:p>
            <a:pPr>
              <a:buNone/>
            </a:pPr>
            <a:endParaRPr lang="en-US" sz="800" dirty="0"/>
          </a:p>
        </p:txBody>
      </p:sp>
      <p:sp>
        <p:nvSpPr>
          <p:cNvPr id="32" name="Logo_Slack"/>
          <p:cNvSpPr>
            <a:spLocks noGrp="1"/>
          </p:cNvSpPr>
          <p:nvPr/>
        </p:nvSpPr>
        <p:spPr>
          <a:xfrm>
            <a:off x="6629400" y="1848874"/>
            <a:ext cx="1930400" cy="685800"/>
          </a:xfrm>
          <a:prstGeom prst="roundRect">
            <a:avLst>
              <a:gd name="adj" fmla="val 16667"/>
            </a:avLst>
          </a:prstGeom>
          <a:solidFill>
            <a:srgbClr val="1A1A1A"/>
          </a:solidFill>
          <a:ln w="12700">
            <a:solidFill>
              <a:srgbClr val="333333"/>
            </a:solidFill>
          </a:ln>
        </p:spPr>
        <p:txBody>
          <a:bodyPr anchor="ctr" anchorCtr="1">
            <a:normAutofit/>
          </a:bodyPr>
          <a:lstStyle/>
          <a:p>
            <a:pPr algn="l">
              <a:buNone/>
            </a:pPr>
            <a:r>
              <a:rPr lang="en-US" sz="1100" dirty="0">
                <a:solidFill>
                  <a:srgbClr val="FFFFFF"/>
                </a:solidFill>
              </a:rPr>
              <a:t>      Teams</a:t>
            </a:r>
          </a:p>
        </p:txBody>
      </p:sp>
      <p:sp>
        <p:nvSpPr>
          <p:cNvPr id="132" name="IconBox_Slack"/>
          <p:cNvSpPr>
            <a:spLocks noGrp="1"/>
          </p:cNvSpPr>
          <p:nvPr/>
        </p:nvSpPr>
        <p:spPr>
          <a:xfrm>
            <a:off x="6705600" y="1963174"/>
            <a:ext cx="457200" cy="457200"/>
          </a:xfrm>
          <a:prstGeom prst="roundRect">
            <a:avLst>
              <a:gd name="adj" fmla="val 16667"/>
            </a:avLst>
          </a:prstGeom>
          <a:solidFill>
            <a:srgbClr val="2A2A2A"/>
          </a:solidFill>
          <a:ln w="9525">
            <a:solidFill>
              <a:srgbClr val="555555"/>
            </a:solidFill>
          </a:ln>
        </p:spPr>
        <p:txBody>
          <a:bodyPr anchor="ctr" anchorCtr="1">
            <a:noAutofit/>
          </a:bodyPr>
          <a:lstStyle/>
          <a:p>
            <a:pPr>
              <a:buNone/>
            </a:pPr>
            <a:endParaRPr lang="en-US" sz="800" dirty="0"/>
          </a:p>
        </p:txBody>
      </p:sp>
      <p:sp>
        <p:nvSpPr>
          <p:cNvPr id="33" name="Logo_Google Drive"/>
          <p:cNvSpPr>
            <a:spLocks noGrp="1"/>
          </p:cNvSpPr>
          <p:nvPr/>
        </p:nvSpPr>
        <p:spPr>
          <a:xfrm>
            <a:off x="4546600" y="2773516"/>
            <a:ext cx="1930400" cy="685800"/>
          </a:xfrm>
          <a:prstGeom prst="roundRect">
            <a:avLst>
              <a:gd name="adj" fmla="val 16667"/>
            </a:avLst>
          </a:prstGeom>
          <a:solidFill>
            <a:srgbClr val="1A1A1A"/>
          </a:solidFill>
          <a:ln w="12700">
            <a:solidFill>
              <a:srgbClr val="333333"/>
            </a:solidFill>
          </a:ln>
        </p:spPr>
        <p:txBody>
          <a:bodyPr anchor="ctr" anchorCtr="1">
            <a:normAutofit/>
          </a:bodyPr>
          <a:lstStyle/>
          <a:p>
            <a:pPr algn="l">
              <a:buNone/>
            </a:pPr>
            <a:r>
              <a:rPr lang="en-US" sz="1100" dirty="0">
                <a:solidFill>
                  <a:srgbClr val="FFFFFF"/>
                </a:solidFill>
              </a:rPr>
              <a:t>      Gmail</a:t>
            </a:r>
          </a:p>
        </p:txBody>
      </p:sp>
      <p:sp>
        <p:nvSpPr>
          <p:cNvPr id="133" name="IconBox_Google Drive"/>
          <p:cNvSpPr>
            <a:spLocks noGrp="1"/>
          </p:cNvSpPr>
          <p:nvPr/>
        </p:nvSpPr>
        <p:spPr>
          <a:xfrm>
            <a:off x="4622800" y="2887816"/>
            <a:ext cx="457200" cy="457200"/>
          </a:xfrm>
          <a:prstGeom prst="roundRect">
            <a:avLst>
              <a:gd name="adj" fmla="val 16667"/>
            </a:avLst>
          </a:prstGeom>
          <a:solidFill>
            <a:srgbClr val="2A2A2A"/>
          </a:solidFill>
          <a:ln w="9525">
            <a:solidFill>
              <a:srgbClr val="555555"/>
            </a:solidFill>
          </a:ln>
        </p:spPr>
        <p:txBody>
          <a:bodyPr anchor="ctr" anchorCtr="1">
            <a:noAutofit/>
          </a:bodyPr>
          <a:lstStyle/>
          <a:p>
            <a:pPr>
              <a:buNone/>
            </a:pPr>
            <a:endParaRPr lang="en-US" sz="800" dirty="0"/>
          </a:p>
        </p:txBody>
      </p:sp>
      <p:sp>
        <p:nvSpPr>
          <p:cNvPr id="36" name="Logo_Notion"/>
          <p:cNvSpPr>
            <a:spLocks noGrp="1"/>
          </p:cNvSpPr>
          <p:nvPr/>
        </p:nvSpPr>
        <p:spPr>
          <a:xfrm>
            <a:off x="6629400" y="2773516"/>
            <a:ext cx="1930400" cy="685800"/>
          </a:xfrm>
          <a:prstGeom prst="roundRect">
            <a:avLst>
              <a:gd name="adj" fmla="val 16667"/>
            </a:avLst>
          </a:prstGeom>
          <a:solidFill>
            <a:srgbClr val="1A1A1A"/>
          </a:solidFill>
          <a:ln w="12700">
            <a:solidFill>
              <a:srgbClr val="333333"/>
            </a:solidFill>
          </a:ln>
        </p:spPr>
        <p:txBody>
          <a:bodyPr anchor="ctr" anchorCtr="1">
            <a:normAutofit/>
          </a:bodyPr>
          <a:lstStyle/>
          <a:p>
            <a:pPr algn="l">
              <a:buNone/>
            </a:pPr>
            <a:r>
              <a:rPr lang="en-US" sz="1100" dirty="0">
                <a:solidFill>
                  <a:srgbClr val="FFFFFF"/>
                </a:solidFill>
              </a:rPr>
              <a:t>      Notion</a:t>
            </a:r>
          </a:p>
        </p:txBody>
      </p:sp>
      <p:sp>
        <p:nvSpPr>
          <p:cNvPr id="136" name="IconBox_Notion"/>
          <p:cNvSpPr>
            <a:spLocks noGrp="1"/>
          </p:cNvSpPr>
          <p:nvPr/>
        </p:nvSpPr>
        <p:spPr>
          <a:xfrm>
            <a:off x="6705600" y="2887816"/>
            <a:ext cx="457200" cy="457200"/>
          </a:xfrm>
          <a:prstGeom prst="roundRect">
            <a:avLst>
              <a:gd name="adj" fmla="val 16667"/>
            </a:avLst>
          </a:prstGeom>
          <a:solidFill>
            <a:srgbClr val="2A2A2A"/>
          </a:solidFill>
          <a:ln w="9525">
            <a:solidFill>
              <a:srgbClr val="555555"/>
            </a:solidFill>
          </a:ln>
        </p:spPr>
        <p:txBody>
          <a:bodyPr anchor="ctr" anchorCtr="1">
            <a:noAutofit/>
          </a:bodyPr>
          <a:lstStyle/>
          <a:p>
            <a:pPr>
              <a:buNone/>
            </a:pPr>
            <a:endParaRPr lang="en-US" sz="800" dirty="0"/>
          </a:p>
        </p:txBody>
      </p:sp>
      <p:sp>
        <p:nvSpPr>
          <p:cNvPr id="37" name="Logo_Your APIs"/>
          <p:cNvSpPr>
            <a:spLocks noGrp="1"/>
          </p:cNvSpPr>
          <p:nvPr/>
        </p:nvSpPr>
        <p:spPr>
          <a:xfrm>
            <a:off x="4546600" y="3698158"/>
            <a:ext cx="4013200" cy="685800"/>
          </a:xfrm>
          <a:prstGeom prst="roundRect">
            <a:avLst>
              <a:gd name="adj" fmla="val 16667"/>
            </a:avLst>
          </a:prstGeom>
          <a:solidFill>
            <a:srgbClr val="1A1A1A"/>
          </a:solidFill>
          <a:ln w="12700">
            <a:solidFill>
              <a:srgbClr val="333333"/>
            </a:solidFill>
          </a:ln>
        </p:spPr>
        <p:txBody>
          <a:bodyPr anchor="ctr" anchorCtr="1">
            <a:normAutofit/>
          </a:bodyPr>
          <a:lstStyle/>
          <a:p>
            <a:pPr algn="ctr">
              <a:buNone/>
            </a:pPr>
            <a:r>
              <a:rPr lang="en-US" sz="1100" dirty="0">
                <a:solidFill>
                  <a:srgbClr val="FFFFFF"/>
                </a:solidFill>
              </a:rPr>
              <a:t>  Your custom APIs</a:t>
            </a:r>
          </a:p>
        </p:txBody>
      </p:sp>
      <p:pic>
        <p:nvPicPr>
          <p:cNvPr id="11" name="Picture 10" descr="A logo of a company&#10;&#10;AI-generated content may be incorrect.">
            <a:extLst>
              <a:ext uri="{FF2B5EF4-FFF2-40B4-BE49-F238E27FC236}">
                <a16:creationId xmlns:a16="http://schemas.microsoft.com/office/drawing/2014/main" id="{382DAFAB-71BD-FD54-5C52-C6E3A5FB996D}"/>
              </a:ext>
            </a:extLst>
          </p:cNvPr>
          <p:cNvPicPr>
            <a:picLocks noChangeAspect="1"/>
          </p:cNvPicPr>
          <p:nvPr/>
        </p:nvPicPr>
        <p:blipFill>
          <a:blip r:embed="rId3"/>
          <a:stretch>
            <a:fillRect/>
          </a:stretch>
        </p:blipFill>
        <p:spPr>
          <a:xfrm>
            <a:off x="6698224" y="1980842"/>
            <a:ext cx="457200" cy="425096"/>
          </a:xfrm>
          <a:prstGeom prst="rect">
            <a:avLst/>
          </a:prstGeom>
        </p:spPr>
      </p:pic>
      <p:pic>
        <p:nvPicPr>
          <p:cNvPr id="13" name="Picture 12" descr="A logo with different colors&#10;&#10;AI-generated content may be incorrect.">
            <a:extLst>
              <a:ext uri="{FF2B5EF4-FFF2-40B4-BE49-F238E27FC236}">
                <a16:creationId xmlns:a16="http://schemas.microsoft.com/office/drawing/2014/main" id="{88B2DBE2-5591-700E-3731-B5B0C5C5D800}"/>
              </a:ext>
            </a:extLst>
          </p:cNvPr>
          <p:cNvPicPr>
            <a:picLocks noChangeAspect="1"/>
          </p:cNvPicPr>
          <p:nvPr/>
        </p:nvPicPr>
        <p:blipFill>
          <a:blip r:embed="rId4"/>
          <a:stretch>
            <a:fillRect/>
          </a:stretch>
        </p:blipFill>
        <p:spPr>
          <a:xfrm>
            <a:off x="4660558" y="2972773"/>
            <a:ext cx="381683" cy="286262"/>
          </a:xfrm>
          <a:prstGeom prst="rect">
            <a:avLst/>
          </a:prstGeom>
        </p:spPr>
      </p:pic>
      <p:pic>
        <p:nvPicPr>
          <p:cNvPr id="15" name="Picture 14" descr="A black and white logo&#10;&#10;AI-generated content may be incorrect.">
            <a:extLst>
              <a:ext uri="{FF2B5EF4-FFF2-40B4-BE49-F238E27FC236}">
                <a16:creationId xmlns:a16="http://schemas.microsoft.com/office/drawing/2014/main" id="{9947A89B-5E85-3370-B7F5-8910F33F80E0}"/>
              </a:ext>
            </a:extLst>
          </p:cNvPr>
          <p:cNvPicPr>
            <a:picLocks noChangeAspect="1"/>
          </p:cNvPicPr>
          <p:nvPr/>
        </p:nvPicPr>
        <p:blipFill>
          <a:blip r:embed="rId5"/>
          <a:stretch>
            <a:fillRect/>
          </a:stretch>
        </p:blipFill>
        <p:spPr>
          <a:xfrm>
            <a:off x="6725677" y="2907894"/>
            <a:ext cx="417045" cy="417045"/>
          </a:xfrm>
          <a:prstGeom prst="rect">
            <a:avLst/>
          </a:prstGeom>
        </p:spPr>
      </p:pic>
      <p:pic>
        <p:nvPicPr>
          <p:cNvPr id="17" name="Picture 16" descr="A colorful shapes on a black background&#10;&#10;AI-generated content may be incorrect.">
            <a:extLst>
              <a:ext uri="{FF2B5EF4-FFF2-40B4-BE49-F238E27FC236}">
                <a16:creationId xmlns:a16="http://schemas.microsoft.com/office/drawing/2014/main" id="{F9AE7218-853D-BA17-4516-F2C05D6C79DD}"/>
              </a:ext>
            </a:extLst>
          </p:cNvPr>
          <p:cNvPicPr>
            <a:picLocks noChangeAspect="1"/>
          </p:cNvPicPr>
          <p:nvPr/>
        </p:nvPicPr>
        <p:blipFill>
          <a:blip r:embed="rId6"/>
          <a:stretch>
            <a:fillRect/>
          </a:stretch>
        </p:blipFill>
        <p:spPr>
          <a:xfrm>
            <a:off x="4652682" y="1993057"/>
            <a:ext cx="397434" cy="397434"/>
          </a:xfrm>
          <a:prstGeom prst="rect">
            <a:avLst/>
          </a:prstGeom>
        </p:spPr>
      </p:pic>
      <p:sp>
        <p:nvSpPr>
          <p:cNvPr id="500" name="CodeBlock"/>
          <p:cNvSpPr>
            <a:spLocks noGrp="1"/>
          </p:cNvSpPr>
          <p:nvPr/>
        </p:nvSpPr>
        <p:spPr>
          <a:xfrm>
            <a:off x="457200" y="2451242"/>
            <a:ext cx="3683000" cy="736600"/>
          </a:xfrm>
          <a:prstGeom prst="roundRect">
            <a:avLst>
              <a:gd name="adj" fmla="val 20000"/>
            </a:avLst>
          </a:prstGeom>
          <a:solidFill>
            <a:srgbClr val="0D1117"/>
          </a:solidFill>
          <a:ln w="15875">
            <a:solidFill>
              <a:srgbClr val="30363D"/>
            </a:solidFill>
          </a:ln>
        </p:spPr>
        <p:txBody>
          <a:bodyPr lIns="200000" tIns="100000" rIns="180000" bIns="100000" anchor="ctr"/>
          <a:lstStyle/>
          <a:p>
            <a:pPr algn="l">
              <a:buNone/>
            </a:pPr>
            <a:r>
              <a:rPr lang="en-US" sz="1200" dirty="0">
                <a:solidFill>
                  <a:srgbClr val="6A737D"/>
                </a:solidFill>
                <a:latin typeface="Courier New" pitchFamily="49" charset="0"/>
              </a:rPr>
              <a:t>$ </a:t>
            </a:r>
            <a:r>
              <a:rPr lang="en-US" sz="1200" dirty="0">
                <a:solidFill>
                  <a:srgbClr val="8EF050"/>
                </a:solidFill>
                <a:latin typeface="Courier New" pitchFamily="49" charset="0"/>
              </a:rPr>
              <a:t>claude mcp add</a:t>
            </a:r>
            <a:r>
              <a:rPr lang="en-US" sz="1200" dirty="0">
                <a:solidFill>
                  <a:srgbClr val="79B8FF"/>
                </a:solidFill>
                <a:latin typeface="Courier New" pitchFamily="49" charset="0"/>
              </a:rPr>
              <a:t> --transport http</a:t>
            </a:r>
          </a:p>
          <a:p>
            <a:pPr algn="l">
              <a:buNone/>
            </a:pPr>
            <a:r>
              <a:rPr lang="en-US" sz="1200" dirty="0">
                <a:solidFill>
                  <a:srgbClr val="6A737D"/>
                </a:solidFill>
                <a:latin typeface="Courier New" pitchFamily="49" charset="0"/>
              </a:rPr>
              <a:t>  </a:t>
            </a:r>
            <a:r>
              <a:rPr lang="en-US" sz="1200" dirty="0">
                <a:solidFill>
                  <a:srgbClr val="FFAB70"/>
                </a:solidFill>
                <a:latin typeface="Courier New" pitchFamily="49" charset="0"/>
              </a:rPr>
              <a:t>&lt;name&gt; &lt;url&gt;</a:t>
            </a:r>
            <a:r>
              <a:rPr lang="en-US" sz="1200" dirty="0">
                <a:solidFill>
                  <a:srgbClr val="79B8FF"/>
                </a:solidFill>
                <a:latin typeface="Courier New" pitchFamily="49" charset="0"/>
              </a:rPr>
              <a:t> --scope</a:t>
            </a:r>
            <a:r>
              <a:rPr lang="en-US" sz="1200" dirty="0">
                <a:solidFill>
                  <a:srgbClr val="FFAB70"/>
                </a:solidFill>
                <a:latin typeface="Courier New" pitchFamily="49" charset="0"/>
              </a:rPr>
              <a:t> &lt;local&gt;</a:t>
            </a:r>
          </a:p>
        </p:txBody>
      </p:sp>
      <p:sp>
        <p:nvSpPr>
          <p:cNvPr id="501" name="ScopeText"/>
          <p:cNvSpPr>
            <a:spLocks noGrp="1"/>
          </p:cNvSpPr>
          <p:nvPr/>
        </p:nvSpPr>
        <p:spPr>
          <a:xfrm>
            <a:off x="508000" y="3299951"/>
            <a:ext cx="3683000" cy="1143000"/>
          </a:xfrm>
          <a:prstGeom prst="rect">
            <a:avLst/>
          </a:prstGeom>
          <a:noFill/>
          <a:ln>
            <a:noFill/>
          </a:ln>
        </p:spPr>
        <p:txBody>
          <a:bodyPr lIns="0" tIns="0" rIns="0" bIns="0" anchor="t"/>
          <a:lstStyle/>
          <a:p>
            <a:pPr algn="l">
              <a:buNone/>
            </a:pPr>
            <a:r>
              <a:rPr lang="en-US" sz="1600" dirty="0">
                <a:solidFill>
                  <a:srgbClr val="AAAAAA"/>
                </a:solidFill>
              </a:rPr>
              <a:t>Scope: </a:t>
            </a:r>
            <a:r>
              <a:rPr lang="en-US" sz="1600" b="1" dirty="0">
                <a:solidFill>
                  <a:srgbClr val="8EF050"/>
                </a:solidFill>
              </a:rPr>
              <a:t>project  ·  user  ·  local</a:t>
            </a:r>
          </a:p>
          <a:p>
            <a:pPr algn="l">
              <a:buNone/>
            </a:pPr>
            <a:endParaRPr lang="en-US" sz="1600" dirty="0"/>
          </a:p>
          <a:p>
            <a:pPr algn="l">
              <a:buNone/>
            </a:pPr>
            <a:r>
              <a:rPr lang="en-US" sz="1600" dirty="0">
                <a:solidFill>
                  <a:srgbClr val="AAAAAA"/>
                </a:solidFill>
              </a:rPr>
              <a:t>MCP → 3rd-party apps</a:t>
            </a:r>
          </a:p>
          <a:p>
            <a:pPr algn="l">
              <a:buNone/>
            </a:pPr>
            <a:r>
              <a:rPr lang="en-US" sz="1600" dirty="0">
                <a:solidFill>
                  <a:srgbClr val="AAAAAA"/>
                </a:solidFill>
              </a:rPr>
              <a:t>Skills → custom logic</a:t>
            </a:r>
          </a:p>
        </p:txBody>
      </p:sp>
    </p:spTree>
    <p:extLst>
      <p:ext uri="{BB962C8B-B14F-4D97-AF65-F5344CB8AC3E}">
        <p14:creationId xmlns:p14="http://schemas.microsoft.com/office/powerpoint/2010/main" val="2520474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SUBAGENTS</a:t>
            </a:r>
          </a:p>
        </p:txBody>
      </p:sp>
      <p:sp>
        <p:nvSpPr>
          <p:cNvPr id="4" name="Text Placeholder 3"/>
          <p:cNvSpPr>
            <a:spLocks noGrp="1"/>
          </p:cNvSpPr>
          <p:nvPr>
            <p:ph type="body" sz="quarter" idx="10"/>
          </p:nvPr>
        </p:nvSpPr>
        <p:spPr>
          <a:xfrm>
            <a:off x="573853" y="1401951"/>
            <a:ext cx="4150548" cy="2602782"/>
          </a:xfrm>
        </p:spPr>
        <p:txBody>
          <a:bodyPr/>
          <a:lstStyle/>
          <a:p>
            <a:r>
              <a:rPr lang="en-US" sz="1800" b="1" dirty="0"/>
              <a:t>Why isolation matters:</a:t>
            </a:r>
          </a:p>
          <a:p>
            <a:pPr marL="285750" indent="-285750">
              <a:buClr>
                <a:schemeClr val="tx2"/>
              </a:buClr>
              <a:buSzPct val="130000"/>
              <a:buFont typeface="Wingdings" panose="05000000000000000000" pitchFamily="2" charset="2"/>
              <a:buChar char="§"/>
            </a:pPr>
            <a:r>
              <a:rPr lang="en-US" dirty="0"/>
              <a:t>Subagent work does not fill your main context window</a:t>
            </a:r>
          </a:p>
          <a:p>
            <a:pPr marL="285750" indent="-285750">
              <a:buClr>
                <a:schemeClr val="tx2"/>
              </a:buClr>
              <a:buSzPct val="130000"/>
              <a:buFont typeface="Wingdings" panose="05000000000000000000" pitchFamily="2" charset="2"/>
              <a:buChar char="§"/>
            </a:pPr>
            <a:r>
              <a:rPr lang="en-US" dirty="0"/>
              <a:t>Run security, performance, test review in parallel</a:t>
            </a:r>
          </a:p>
          <a:p>
            <a:pPr marL="285750" indent="-285750">
              <a:buClr>
                <a:schemeClr val="tx2"/>
              </a:buClr>
              <a:buSzPct val="130000"/>
              <a:buFont typeface="Wingdings" panose="05000000000000000000" pitchFamily="2" charset="2"/>
              <a:buChar char="§"/>
            </a:pPr>
            <a:r>
              <a:rPr lang="en-US" dirty="0"/>
              <a:t>Each subagent can have its own skills preloaded</a:t>
            </a:r>
          </a:p>
          <a:p>
            <a:pPr marL="285750" indent="-285750">
              <a:buClr>
                <a:schemeClr val="tx2"/>
              </a:buClr>
              <a:buSzPct val="130000"/>
              <a:buFont typeface="Wingdings" panose="05000000000000000000" pitchFamily="2" charset="2"/>
              <a:buChar char="§"/>
            </a:pPr>
            <a:r>
              <a:rPr lang="en-US" dirty="0"/>
              <a:t>Great for tasks that read many files</a:t>
            </a:r>
          </a:p>
        </p:txBody>
      </p:sp>
      <p:sp>
        <p:nvSpPr>
          <p:cNvPr id="6" name="Subtitle 5">
            <a:extLst>
              <a:ext uri="{FF2B5EF4-FFF2-40B4-BE49-F238E27FC236}">
                <a16:creationId xmlns:a16="http://schemas.microsoft.com/office/drawing/2014/main" id="{B462551A-E12D-4CBE-7CA7-5182BDD67060}"/>
              </a:ext>
            </a:extLst>
          </p:cNvPr>
          <p:cNvSpPr>
            <a:spLocks noGrp="1"/>
          </p:cNvSpPr>
          <p:nvPr>
            <p:ph type="subTitle" idx="1"/>
          </p:nvPr>
        </p:nvSpPr>
        <p:spPr/>
        <p:txBody>
          <a:bodyPr/>
          <a:lstStyle/>
          <a:p>
            <a:r>
              <a:rPr lang="en-GB" dirty="0"/>
              <a:t>AI Assistants for task-specific workflows</a:t>
            </a:r>
            <a:endParaRPr lang="en-IT" dirty="0"/>
          </a:p>
        </p:txBody>
      </p:sp>
      <p:pic>
        <p:nvPicPr>
          <p:cNvPr id="8" name="Picture 7" descr="A diagram of a workflow&#10;&#10;AI-generated content may be incorrect.">
            <a:extLst>
              <a:ext uri="{FF2B5EF4-FFF2-40B4-BE49-F238E27FC236}">
                <a16:creationId xmlns:a16="http://schemas.microsoft.com/office/drawing/2014/main" id="{3E0ACC3E-EB0F-104A-560A-86B06F591BD1}"/>
              </a:ext>
            </a:extLst>
          </p:cNvPr>
          <p:cNvPicPr>
            <a:picLocks noChangeAspect="1"/>
          </p:cNvPicPr>
          <p:nvPr/>
        </p:nvPicPr>
        <p:blipFill>
          <a:blip r:embed="rId3"/>
          <a:srcRect t="11081" r="57230"/>
          <a:stretch>
            <a:fillRect/>
          </a:stretch>
        </p:blipFill>
        <p:spPr>
          <a:xfrm>
            <a:off x="4883973" y="1401951"/>
            <a:ext cx="3686175" cy="2912185"/>
          </a:xfrm>
          <a:prstGeom prst="rect">
            <a:avLst/>
          </a:prstGeom>
        </p:spPr>
      </p:pic>
      <p:sp>
        <p:nvSpPr>
          <p:cNvPr id="9" name="InfoBar">
            <a:extLst>
              <a:ext uri="{FF2B5EF4-FFF2-40B4-BE49-F238E27FC236}">
                <a16:creationId xmlns:a16="http://schemas.microsoft.com/office/drawing/2014/main" id="{01D06CCE-0C40-11FB-DE81-6B0E6C9B8ADC}"/>
              </a:ext>
            </a:extLst>
          </p:cNvPr>
          <p:cNvSpPr>
            <a:spLocks noGrp="1"/>
          </p:cNvSpPr>
          <p:nvPr/>
        </p:nvSpPr>
        <p:spPr>
          <a:xfrm>
            <a:off x="616187" y="4124347"/>
            <a:ext cx="2152415" cy="762000"/>
          </a:xfrm>
          <a:prstGeom prst="rect">
            <a:avLst/>
          </a:prstGeom>
          <a:solidFill>
            <a:srgbClr val="053238"/>
          </a:solidFill>
          <a:ln w="9144">
            <a:solidFill>
              <a:srgbClr val="8EF050">
                <a:alpha val="40000"/>
              </a:srgbClr>
            </a:solidFill>
          </a:ln>
        </p:spPr>
        <p:txBody>
          <a:bodyPr vertOverflow="clip" horzOverflow="clip" lIns="91440" tIns="45720" rIns="91440" bIns="45720" anchor="ctr"/>
          <a:lstStyle/>
          <a:p>
            <a:pPr algn="l">
              <a:buNone/>
            </a:pPr>
            <a:r>
              <a:rPr lang="en-US" sz="1200" b="1" dirty="0">
                <a:solidFill>
                  <a:srgbClr val="8EF050"/>
                </a:solidFill>
              </a:rPr>
              <a:t>SCOPES  </a:t>
            </a:r>
          </a:p>
          <a:p>
            <a:pPr algn="l">
              <a:buNone/>
            </a:pPr>
            <a:r>
              <a:rPr lang="en-US" sz="1400" dirty="0">
                <a:solidFill>
                  <a:srgbClr val="CCCCCC"/>
                </a:solidFill>
              </a:rPr>
              <a:t>Project: /.</a:t>
            </a:r>
            <a:r>
              <a:rPr lang="en-US" sz="1400" dirty="0" err="1">
                <a:solidFill>
                  <a:srgbClr val="CCCCCC"/>
                </a:solidFill>
              </a:rPr>
              <a:t>claude</a:t>
            </a:r>
            <a:r>
              <a:rPr lang="en-US" sz="1400" dirty="0">
                <a:solidFill>
                  <a:srgbClr val="CCCCCC"/>
                </a:solidFill>
              </a:rPr>
              <a:t>/agents/</a:t>
            </a:r>
          </a:p>
          <a:p>
            <a:r>
              <a:rPr lang="en-US" sz="1400" dirty="0">
                <a:solidFill>
                  <a:srgbClr val="CCCCCC"/>
                </a:solidFill>
              </a:rPr>
              <a:t>User: ~/.</a:t>
            </a:r>
            <a:r>
              <a:rPr lang="en-US" sz="1400" dirty="0" err="1">
                <a:solidFill>
                  <a:srgbClr val="CCCCCC"/>
                </a:solidFill>
              </a:rPr>
              <a:t>claude</a:t>
            </a:r>
            <a:r>
              <a:rPr lang="en-US" sz="1400" dirty="0">
                <a:solidFill>
                  <a:srgbClr val="CCCCCC"/>
                </a:solidFill>
              </a:rPr>
              <a:t>/agents/</a:t>
            </a:r>
          </a:p>
        </p:txBody>
      </p:sp>
    </p:spTree>
    <p:extLst>
      <p:ext uri="{BB962C8B-B14F-4D97-AF65-F5344CB8AC3E}">
        <p14:creationId xmlns:p14="http://schemas.microsoft.com/office/powerpoint/2010/main" val="1488192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HOOKS</a:t>
            </a:r>
          </a:p>
        </p:txBody>
      </p:sp>
      <p:sp>
        <p:nvSpPr>
          <p:cNvPr id="5" name="Subtitle 4"/>
          <p:cNvSpPr>
            <a:spLocks noGrp="1"/>
          </p:cNvSpPr>
          <p:nvPr>
            <p:ph type="subTitle" idx="1"/>
          </p:nvPr>
        </p:nvSpPr>
        <p:spPr/>
        <p:txBody>
          <a:bodyPr/>
          <a:lstStyle/>
          <a:p>
            <a:r>
              <a:rPr lang="en-US" sz="1600" dirty="0"/>
              <a:t>Automate actions on specific lifecycle events</a:t>
            </a:r>
          </a:p>
        </p:txBody>
      </p:sp>
      <p:sp>
        <p:nvSpPr>
          <p:cNvPr id="102" name="Icon_102"/>
          <p:cNvSpPr>
            <a:spLocks noGrp="1"/>
          </p:cNvSpPr>
          <p:nvPr/>
        </p:nvSpPr>
        <p:spPr>
          <a:xfrm>
            <a:off x="2506145" y="1512579"/>
            <a:ext cx="838200" cy="838200"/>
          </a:xfrm>
          <a:prstGeom prst="hexagon">
            <a:avLst/>
          </a:prstGeom>
          <a:solidFill>
            <a:srgbClr val="00B140"/>
          </a:solidFill>
          <a:ln w="19050">
            <a:solidFill>
              <a:srgbClr val="00B140"/>
            </a:solidFill>
          </a:ln>
        </p:spPr>
        <p:txBody>
          <a:bodyPr vertOverflow="clip" horzOverflow="clip" anchor="ctr"/>
          <a:lstStyle/>
          <a:p>
            <a:pPr algn="ctr">
              <a:buNone/>
            </a:pPr>
            <a:endParaRPr lang="en-US" sz="2200" b="1" dirty="0">
              <a:solidFill>
                <a:srgbClr val="FFFFFF"/>
              </a:solidFill>
            </a:endParaRPr>
          </a:p>
        </p:txBody>
      </p:sp>
      <p:sp>
        <p:nvSpPr>
          <p:cNvPr id="103" name="Icon_103"/>
          <p:cNvSpPr>
            <a:spLocks noGrp="1"/>
          </p:cNvSpPr>
          <p:nvPr/>
        </p:nvSpPr>
        <p:spPr>
          <a:xfrm>
            <a:off x="4017445" y="1512579"/>
            <a:ext cx="838200" cy="838200"/>
          </a:xfrm>
          <a:prstGeom prst="ellipse">
            <a:avLst/>
          </a:prstGeom>
          <a:solidFill>
            <a:srgbClr val="0A4A56"/>
          </a:solidFill>
          <a:ln w="18288">
            <a:solidFill>
              <a:srgbClr val="8EF050"/>
            </a:solidFill>
          </a:ln>
        </p:spPr>
        <p:txBody>
          <a:bodyPr vertOverflow="clip" horzOverflow="clip" anchor="ctr"/>
          <a:lstStyle/>
          <a:p>
            <a:pPr algn="ctr">
              <a:buNone/>
            </a:pPr>
            <a:endParaRPr lang="en-US" sz="2200" b="1" dirty="0">
              <a:solidFill>
                <a:srgbClr val="FFFFFF"/>
              </a:solidFill>
            </a:endParaRPr>
          </a:p>
        </p:txBody>
      </p:sp>
      <p:sp>
        <p:nvSpPr>
          <p:cNvPr id="104" name="Icon_104"/>
          <p:cNvSpPr>
            <a:spLocks noGrp="1"/>
          </p:cNvSpPr>
          <p:nvPr/>
        </p:nvSpPr>
        <p:spPr>
          <a:xfrm>
            <a:off x="5528745" y="1512579"/>
            <a:ext cx="838200" cy="838200"/>
          </a:xfrm>
          <a:prstGeom prst="hexagon">
            <a:avLst/>
          </a:prstGeom>
          <a:solidFill>
            <a:srgbClr val="00B140"/>
          </a:solidFill>
          <a:ln w="19050">
            <a:solidFill>
              <a:srgbClr val="00B140"/>
            </a:solidFill>
          </a:ln>
        </p:spPr>
        <p:txBody>
          <a:bodyPr vertOverflow="clip" horzOverflow="clip" anchor="ctr"/>
          <a:lstStyle/>
          <a:p>
            <a:pPr algn="ctr">
              <a:buNone/>
            </a:pPr>
            <a:endParaRPr lang="en-US" sz="2200" b="1" dirty="0">
              <a:solidFill>
                <a:srgbClr val="FFFFFF"/>
              </a:solidFill>
            </a:endParaRPr>
          </a:p>
        </p:txBody>
      </p:sp>
      <p:sp>
        <p:nvSpPr>
          <p:cNvPr id="105" name="Icon_105"/>
          <p:cNvSpPr>
            <a:spLocks noGrp="1"/>
          </p:cNvSpPr>
          <p:nvPr/>
        </p:nvSpPr>
        <p:spPr>
          <a:xfrm>
            <a:off x="7040045" y="1512579"/>
            <a:ext cx="838200" cy="838200"/>
          </a:xfrm>
          <a:prstGeom prst="ellipse">
            <a:avLst/>
          </a:prstGeom>
          <a:solidFill>
            <a:srgbClr val="2E7CFA"/>
          </a:solidFill>
          <a:ln w="19050">
            <a:solidFill>
              <a:srgbClr val="2E7CFA"/>
            </a:solidFill>
          </a:ln>
        </p:spPr>
        <p:txBody>
          <a:bodyPr vertOverflow="clip" horzOverflow="clip" anchor="ctr"/>
          <a:lstStyle/>
          <a:p>
            <a:pPr algn="ctr">
              <a:buNone/>
            </a:pPr>
            <a:endParaRPr lang="en-US" sz="2200" b="1" dirty="0">
              <a:solidFill>
                <a:srgbClr val="FFFFFF"/>
              </a:solidFill>
            </a:endParaRPr>
          </a:p>
        </p:txBody>
      </p:sp>
      <p:sp>
        <p:nvSpPr>
          <p:cNvPr id="200" name="Arrow_0"/>
          <p:cNvSpPr>
            <a:spLocks noGrp="1"/>
          </p:cNvSpPr>
          <p:nvPr/>
        </p:nvSpPr>
        <p:spPr>
          <a:xfrm>
            <a:off x="1871145" y="1842779"/>
            <a:ext cx="596900" cy="177800"/>
          </a:xfrm>
          <a:prstGeom prst="rightArrow">
            <a:avLst>
              <a:gd name="adj1" fmla="val 50000"/>
              <a:gd name="adj2" fmla="val 55000"/>
            </a:avLst>
          </a:prstGeom>
          <a:solidFill>
            <a:srgbClr val="8EF050"/>
          </a:solidFill>
          <a:ln>
            <a:noFill/>
          </a:ln>
        </p:spPr>
        <p:txBody>
          <a:bodyPr/>
          <a:lstStyle/>
          <a:p>
            <a:endParaRPr/>
          </a:p>
        </p:txBody>
      </p:sp>
      <p:sp>
        <p:nvSpPr>
          <p:cNvPr id="201" name="Arrow_1"/>
          <p:cNvSpPr>
            <a:spLocks noGrp="1"/>
          </p:cNvSpPr>
          <p:nvPr/>
        </p:nvSpPr>
        <p:spPr>
          <a:xfrm>
            <a:off x="3382445" y="1842779"/>
            <a:ext cx="596900" cy="177800"/>
          </a:xfrm>
          <a:prstGeom prst="rightArrow">
            <a:avLst>
              <a:gd name="adj1" fmla="val 50000"/>
              <a:gd name="adj2" fmla="val 55000"/>
            </a:avLst>
          </a:prstGeom>
          <a:solidFill>
            <a:srgbClr val="8EF050"/>
          </a:solidFill>
          <a:ln>
            <a:noFill/>
          </a:ln>
        </p:spPr>
        <p:txBody>
          <a:bodyPr/>
          <a:lstStyle/>
          <a:p>
            <a:endParaRPr/>
          </a:p>
        </p:txBody>
      </p:sp>
      <p:sp>
        <p:nvSpPr>
          <p:cNvPr id="202" name="Arrow_2"/>
          <p:cNvSpPr>
            <a:spLocks noGrp="1"/>
          </p:cNvSpPr>
          <p:nvPr/>
        </p:nvSpPr>
        <p:spPr>
          <a:xfrm>
            <a:off x="4893745" y="1842779"/>
            <a:ext cx="596900" cy="177800"/>
          </a:xfrm>
          <a:prstGeom prst="rightArrow">
            <a:avLst>
              <a:gd name="adj1" fmla="val 50000"/>
              <a:gd name="adj2" fmla="val 55000"/>
            </a:avLst>
          </a:prstGeom>
          <a:solidFill>
            <a:srgbClr val="8EF050"/>
          </a:solidFill>
          <a:ln>
            <a:noFill/>
          </a:ln>
        </p:spPr>
        <p:txBody>
          <a:bodyPr/>
          <a:lstStyle/>
          <a:p>
            <a:endParaRPr/>
          </a:p>
        </p:txBody>
      </p:sp>
      <p:sp>
        <p:nvSpPr>
          <p:cNvPr id="203" name="Arrow_3"/>
          <p:cNvSpPr>
            <a:spLocks noGrp="1"/>
          </p:cNvSpPr>
          <p:nvPr/>
        </p:nvSpPr>
        <p:spPr>
          <a:xfrm>
            <a:off x="6405045" y="1842779"/>
            <a:ext cx="596900" cy="177800"/>
          </a:xfrm>
          <a:prstGeom prst="rightArrow">
            <a:avLst>
              <a:gd name="adj1" fmla="val 50000"/>
              <a:gd name="adj2" fmla="val 55000"/>
            </a:avLst>
          </a:prstGeom>
          <a:solidFill>
            <a:srgbClr val="8EF050"/>
          </a:solidFill>
          <a:ln>
            <a:noFill/>
          </a:ln>
        </p:spPr>
        <p:txBody>
          <a:bodyPr/>
          <a:lstStyle/>
          <a:p>
            <a:endParaRPr/>
          </a:p>
        </p:txBody>
      </p:sp>
      <p:sp>
        <p:nvSpPr>
          <p:cNvPr id="111" name="Label_101"/>
          <p:cNvSpPr>
            <a:spLocks noGrp="1"/>
          </p:cNvSpPr>
          <p:nvPr/>
        </p:nvSpPr>
        <p:spPr>
          <a:xfrm>
            <a:off x="715445" y="2503179"/>
            <a:ext cx="1397000" cy="482600"/>
          </a:xfrm>
          <a:prstGeom prst="rect">
            <a:avLst/>
          </a:prstGeom>
          <a:noFill/>
          <a:ln>
            <a:noFill/>
          </a:ln>
        </p:spPr>
        <p:txBody>
          <a:bodyPr vertOverflow="clip" horzOverflow="clip" anchor="t"/>
          <a:lstStyle/>
          <a:p>
            <a:pPr algn="ctr">
              <a:buNone/>
            </a:pPr>
            <a:r>
              <a:rPr lang="en-US" sz="1100" b="1" dirty="0">
                <a:solidFill>
                  <a:srgbClr val="FFFFFF"/>
                </a:solidFill>
              </a:rPr>
              <a:t>Claude</a:t>
            </a:r>
          </a:p>
          <a:p>
            <a:pPr algn="ctr">
              <a:buNone/>
            </a:pPr>
            <a:r>
              <a:rPr lang="en-US" sz="1100" b="1" dirty="0">
                <a:solidFill>
                  <a:srgbClr val="FFFFFF"/>
                </a:solidFill>
              </a:rPr>
              <a:t>Calls Tool</a:t>
            </a:r>
          </a:p>
        </p:txBody>
      </p:sp>
      <p:sp>
        <p:nvSpPr>
          <p:cNvPr id="112" name="Label_102"/>
          <p:cNvSpPr>
            <a:spLocks noGrp="1"/>
          </p:cNvSpPr>
          <p:nvPr/>
        </p:nvSpPr>
        <p:spPr>
          <a:xfrm>
            <a:off x="2226745" y="2503179"/>
            <a:ext cx="1397000" cy="482600"/>
          </a:xfrm>
          <a:prstGeom prst="rect">
            <a:avLst/>
          </a:prstGeom>
          <a:noFill/>
          <a:ln>
            <a:noFill/>
          </a:ln>
        </p:spPr>
        <p:txBody>
          <a:bodyPr vertOverflow="clip" horzOverflow="clip" anchor="t"/>
          <a:lstStyle/>
          <a:p>
            <a:pPr algn="ctr">
              <a:buNone/>
            </a:pPr>
            <a:r>
              <a:rPr lang="en-US" sz="1100" b="1" dirty="0">
                <a:solidFill>
                  <a:srgbClr val="FFFFFF"/>
                </a:solidFill>
              </a:rPr>
              <a:t>Pre-tool</a:t>
            </a:r>
          </a:p>
          <a:p>
            <a:pPr algn="ctr">
              <a:buNone/>
            </a:pPr>
            <a:r>
              <a:rPr lang="en-US" sz="1100" b="1" dirty="0">
                <a:solidFill>
                  <a:srgbClr val="FFFFFF"/>
                </a:solidFill>
              </a:rPr>
              <a:t>Hook</a:t>
            </a:r>
          </a:p>
        </p:txBody>
      </p:sp>
      <p:sp>
        <p:nvSpPr>
          <p:cNvPr id="113" name="Label_103"/>
          <p:cNvSpPr>
            <a:spLocks noGrp="1"/>
          </p:cNvSpPr>
          <p:nvPr/>
        </p:nvSpPr>
        <p:spPr>
          <a:xfrm>
            <a:off x="3738045" y="2503179"/>
            <a:ext cx="1397000" cy="482600"/>
          </a:xfrm>
          <a:prstGeom prst="rect">
            <a:avLst/>
          </a:prstGeom>
          <a:noFill/>
          <a:ln>
            <a:noFill/>
          </a:ln>
        </p:spPr>
        <p:txBody>
          <a:bodyPr vertOverflow="clip" horzOverflow="clip" anchor="t"/>
          <a:lstStyle/>
          <a:p>
            <a:pPr algn="ctr">
              <a:buNone/>
            </a:pPr>
            <a:r>
              <a:rPr lang="en-US" sz="1100" b="1" dirty="0">
                <a:solidFill>
                  <a:srgbClr val="FFFFFF"/>
                </a:solidFill>
              </a:rPr>
              <a:t>Tool</a:t>
            </a:r>
          </a:p>
          <a:p>
            <a:pPr algn="ctr">
              <a:buNone/>
            </a:pPr>
            <a:r>
              <a:rPr lang="en-US" sz="1100" b="1" dirty="0">
                <a:solidFill>
                  <a:srgbClr val="FFFFFF"/>
                </a:solidFill>
              </a:rPr>
              <a:t>Execution</a:t>
            </a:r>
          </a:p>
        </p:txBody>
      </p:sp>
      <p:sp>
        <p:nvSpPr>
          <p:cNvPr id="114" name="Label_104"/>
          <p:cNvSpPr>
            <a:spLocks noGrp="1"/>
          </p:cNvSpPr>
          <p:nvPr/>
        </p:nvSpPr>
        <p:spPr>
          <a:xfrm>
            <a:off x="5249345" y="2503179"/>
            <a:ext cx="1397000" cy="482600"/>
          </a:xfrm>
          <a:prstGeom prst="rect">
            <a:avLst/>
          </a:prstGeom>
          <a:noFill/>
          <a:ln>
            <a:noFill/>
          </a:ln>
        </p:spPr>
        <p:txBody>
          <a:bodyPr vertOverflow="clip" horzOverflow="clip" anchor="t"/>
          <a:lstStyle/>
          <a:p>
            <a:pPr algn="ctr">
              <a:buNone/>
            </a:pPr>
            <a:r>
              <a:rPr lang="en-US" sz="1100" b="1" dirty="0">
                <a:solidFill>
                  <a:srgbClr val="FFFFFF"/>
                </a:solidFill>
              </a:rPr>
              <a:t>Post-tool</a:t>
            </a:r>
          </a:p>
          <a:p>
            <a:pPr algn="ctr">
              <a:buNone/>
            </a:pPr>
            <a:r>
              <a:rPr lang="en-US" sz="1100" b="1" dirty="0">
                <a:solidFill>
                  <a:srgbClr val="FFFFFF"/>
                </a:solidFill>
              </a:rPr>
              <a:t>Hook</a:t>
            </a:r>
          </a:p>
        </p:txBody>
      </p:sp>
      <p:sp>
        <p:nvSpPr>
          <p:cNvPr id="115" name="Label_105"/>
          <p:cNvSpPr>
            <a:spLocks noGrp="1"/>
          </p:cNvSpPr>
          <p:nvPr/>
        </p:nvSpPr>
        <p:spPr>
          <a:xfrm>
            <a:off x="6760645" y="2503179"/>
            <a:ext cx="1397000" cy="482600"/>
          </a:xfrm>
          <a:prstGeom prst="rect">
            <a:avLst/>
          </a:prstGeom>
          <a:noFill/>
          <a:ln>
            <a:noFill/>
          </a:ln>
        </p:spPr>
        <p:txBody>
          <a:bodyPr vertOverflow="clip" horzOverflow="clip" anchor="t"/>
          <a:lstStyle/>
          <a:p>
            <a:pPr algn="ctr">
              <a:buNone/>
            </a:pPr>
            <a:r>
              <a:rPr lang="en-US" sz="1100" b="1" dirty="0">
                <a:solidFill>
                  <a:srgbClr val="FFFFFF"/>
                </a:solidFill>
              </a:rPr>
              <a:t>Result to</a:t>
            </a:r>
          </a:p>
          <a:p>
            <a:pPr algn="ctr">
              <a:buNone/>
            </a:pPr>
            <a:r>
              <a:rPr lang="en-US" sz="1100" b="1" dirty="0">
                <a:solidFill>
                  <a:srgbClr val="FFFFFF"/>
                </a:solidFill>
              </a:rPr>
              <a:t>Context</a:t>
            </a:r>
          </a:p>
        </p:txBody>
      </p:sp>
      <p:sp>
        <p:nvSpPr>
          <p:cNvPr id="121" name="Phrase_101"/>
          <p:cNvSpPr>
            <a:spLocks noGrp="1"/>
          </p:cNvSpPr>
          <p:nvPr/>
        </p:nvSpPr>
        <p:spPr>
          <a:xfrm>
            <a:off x="715445" y="3061979"/>
            <a:ext cx="1498600" cy="508000"/>
          </a:xfrm>
          <a:prstGeom prst="roundRect">
            <a:avLst>
              <a:gd name="adj" fmla="val 16667"/>
            </a:avLst>
          </a:prstGeom>
          <a:solidFill>
            <a:srgbClr val="2E7CFA">
              <a:alpha val="35000"/>
            </a:srgbClr>
          </a:solidFill>
          <a:ln w="9144">
            <a:solidFill>
              <a:srgbClr val="2E7CFA"/>
            </a:solidFill>
          </a:ln>
        </p:spPr>
        <p:txBody>
          <a:bodyPr vertOverflow="clip" horzOverflow="clip" lIns="45720" tIns="18000" rIns="45720" bIns="18000" anchor="ctr"/>
          <a:lstStyle/>
          <a:p>
            <a:pPr algn="ctr">
              <a:buNone/>
            </a:pPr>
            <a:r>
              <a:rPr lang="en-US" sz="1100" dirty="0">
                <a:solidFill>
                  <a:srgbClr val="FFFFFF"/>
                </a:solidFill>
              </a:rPr>
              <a:t>Tool call runs code</a:t>
            </a:r>
          </a:p>
          <a:p>
            <a:pPr algn="ctr">
              <a:buNone/>
            </a:pPr>
            <a:r>
              <a:rPr lang="en-US" sz="1100" dirty="0">
                <a:solidFill>
                  <a:srgbClr val="FFFFFF"/>
                </a:solidFill>
              </a:rPr>
              <a:t>on your computer</a:t>
            </a:r>
          </a:p>
        </p:txBody>
      </p:sp>
      <p:sp>
        <p:nvSpPr>
          <p:cNvPr id="122" name="Phrase_102"/>
          <p:cNvSpPr>
            <a:spLocks noGrp="1"/>
          </p:cNvSpPr>
          <p:nvPr/>
        </p:nvSpPr>
        <p:spPr>
          <a:xfrm>
            <a:off x="2226745" y="3061979"/>
            <a:ext cx="1498600" cy="508000"/>
          </a:xfrm>
          <a:prstGeom prst="roundRect">
            <a:avLst>
              <a:gd name="adj" fmla="val 16667"/>
            </a:avLst>
          </a:prstGeom>
          <a:solidFill>
            <a:srgbClr val="00B140">
              <a:alpha val="35000"/>
            </a:srgbClr>
          </a:solidFill>
          <a:ln w="9144">
            <a:solidFill>
              <a:srgbClr val="00B140"/>
            </a:solidFill>
          </a:ln>
        </p:spPr>
        <p:txBody>
          <a:bodyPr vertOverflow="clip" horzOverflow="clip" lIns="45720" tIns="18000" rIns="45720" bIns="18000" anchor="ctr"/>
          <a:lstStyle/>
          <a:p>
            <a:pPr algn="ctr">
              <a:buNone/>
            </a:pPr>
            <a:r>
              <a:rPr lang="en-US" sz="1100" dirty="0">
                <a:solidFill>
                  <a:srgbClr val="FFFFFF"/>
                </a:solidFill>
              </a:rPr>
              <a:t>Block execution or</a:t>
            </a:r>
          </a:p>
          <a:p>
            <a:pPr algn="ctr">
              <a:buNone/>
            </a:pPr>
            <a:r>
              <a:rPr lang="en-US" sz="1100" dirty="0">
                <a:solidFill>
                  <a:srgbClr val="FFFFFF"/>
                </a:solidFill>
              </a:rPr>
              <a:t>protect files</a:t>
            </a:r>
          </a:p>
        </p:txBody>
      </p:sp>
      <p:sp>
        <p:nvSpPr>
          <p:cNvPr id="123" name="Phrase_103"/>
          <p:cNvSpPr>
            <a:spLocks noGrp="1"/>
          </p:cNvSpPr>
          <p:nvPr/>
        </p:nvSpPr>
        <p:spPr>
          <a:xfrm>
            <a:off x="3738045" y="3061979"/>
            <a:ext cx="1498600" cy="508000"/>
          </a:xfrm>
          <a:prstGeom prst="roundRect">
            <a:avLst>
              <a:gd name="adj" fmla="val 16667"/>
            </a:avLst>
          </a:prstGeom>
          <a:solidFill>
            <a:srgbClr val="8EF050">
              <a:alpha val="20000"/>
            </a:srgbClr>
          </a:solidFill>
          <a:ln w="9144">
            <a:solidFill>
              <a:srgbClr val="8EF050"/>
            </a:solidFill>
          </a:ln>
        </p:spPr>
        <p:txBody>
          <a:bodyPr vertOverflow="clip" horzOverflow="clip" lIns="45720" tIns="18000" rIns="45720" bIns="18000" anchor="ctr"/>
          <a:lstStyle/>
          <a:p>
            <a:pPr algn="ctr">
              <a:buNone/>
            </a:pPr>
            <a:r>
              <a:rPr lang="en-US" sz="1100" dirty="0">
                <a:solidFill>
                  <a:srgbClr val="FFFFFF"/>
                </a:solidFill>
              </a:rPr>
              <a:t>Read, write, bash,</a:t>
            </a:r>
          </a:p>
          <a:p>
            <a:pPr algn="ctr">
              <a:buNone/>
            </a:pPr>
            <a:r>
              <a:rPr lang="en-US" sz="1100" dirty="0">
                <a:solidFill>
                  <a:srgbClr val="FFFFFF"/>
                </a:solidFill>
              </a:rPr>
              <a:t>web search &amp; more</a:t>
            </a:r>
          </a:p>
        </p:txBody>
      </p:sp>
      <p:sp>
        <p:nvSpPr>
          <p:cNvPr id="124" name="Phrase_104"/>
          <p:cNvSpPr>
            <a:spLocks noGrp="1"/>
          </p:cNvSpPr>
          <p:nvPr/>
        </p:nvSpPr>
        <p:spPr>
          <a:xfrm>
            <a:off x="5249345" y="3061979"/>
            <a:ext cx="1498600" cy="508000"/>
          </a:xfrm>
          <a:prstGeom prst="roundRect">
            <a:avLst>
              <a:gd name="adj" fmla="val 16667"/>
            </a:avLst>
          </a:prstGeom>
          <a:solidFill>
            <a:srgbClr val="00B140">
              <a:alpha val="35000"/>
            </a:srgbClr>
          </a:solidFill>
          <a:ln w="9144">
            <a:solidFill>
              <a:srgbClr val="00B140"/>
            </a:solidFill>
          </a:ln>
        </p:spPr>
        <p:txBody>
          <a:bodyPr vertOverflow="clip" horzOverflow="clip" lIns="45720" tIns="18000" rIns="45720" bIns="18000" anchor="ctr"/>
          <a:lstStyle/>
          <a:p>
            <a:pPr algn="ctr">
              <a:buNone/>
            </a:pPr>
            <a:r>
              <a:rPr lang="en-US" sz="1100" dirty="0">
                <a:solidFill>
                  <a:srgbClr val="FFFFFF"/>
                </a:solidFill>
              </a:rPr>
              <a:t>Auto-lint files or</a:t>
            </a:r>
          </a:p>
          <a:p>
            <a:pPr algn="ctr">
              <a:buNone/>
            </a:pPr>
            <a:r>
              <a:rPr lang="en-US" sz="1100" dirty="0">
                <a:solidFill>
                  <a:srgbClr val="FFFFFF"/>
                </a:solidFill>
              </a:rPr>
              <a:t>log actions</a:t>
            </a:r>
          </a:p>
        </p:txBody>
      </p:sp>
      <p:sp>
        <p:nvSpPr>
          <p:cNvPr id="125" name="Phrase_105"/>
          <p:cNvSpPr>
            <a:spLocks noGrp="1"/>
          </p:cNvSpPr>
          <p:nvPr/>
        </p:nvSpPr>
        <p:spPr>
          <a:xfrm>
            <a:off x="6760645" y="3061979"/>
            <a:ext cx="1498600" cy="508000"/>
          </a:xfrm>
          <a:prstGeom prst="roundRect">
            <a:avLst>
              <a:gd name="adj" fmla="val 16667"/>
            </a:avLst>
          </a:prstGeom>
          <a:solidFill>
            <a:srgbClr val="2E7CFA">
              <a:alpha val="35000"/>
            </a:srgbClr>
          </a:solidFill>
          <a:ln w="9144">
            <a:solidFill>
              <a:srgbClr val="2E7CFA"/>
            </a:solidFill>
          </a:ln>
        </p:spPr>
        <p:txBody>
          <a:bodyPr vertOverflow="clip" horzOverflow="clip" lIns="45720" tIns="18000" rIns="45720" bIns="18000" anchor="ctr"/>
          <a:lstStyle/>
          <a:p>
            <a:pPr algn="ctr">
              <a:buNone/>
            </a:pPr>
            <a:r>
              <a:rPr lang="en-US" sz="1100" dirty="0">
                <a:solidFill>
                  <a:srgbClr val="FFFFFF"/>
                </a:solidFill>
              </a:rPr>
              <a:t>Passed back to</a:t>
            </a:r>
          </a:p>
          <a:p>
            <a:pPr algn="ctr">
              <a:buNone/>
            </a:pPr>
            <a:r>
              <a:rPr lang="en-US" sz="1100" dirty="0">
                <a:solidFill>
                  <a:srgbClr val="FFFFFF"/>
                </a:solidFill>
              </a:rPr>
              <a:t>Claude's context</a:t>
            </a:r>
          </a:p>
        </p:txBody>
      </p:sp>
      <p:sp>
        <p:nvSpPr>
          <p:cNvPr id="300" name="InfoBar"/>
          <p:cNvSpPr>
            <a:spLocks noGrp="1"/>
          </p:cNvSpPr>
          <p:nvPr/>
        </p:nvSpPr>
        <p:spPr>
          <a:xfrm>
            <a:off x="715445" y="3973309"/>
            <a:ext cx="2628900" cy="762000"/>
          </a:xfrm>
          <a:prstGeom prst="rect">
            <a:avLst/>
          </a:prstGeom>
          <a:solidFill>
            <a:srgbClr val="053238"/>
          </a:solidFill>
          <a:ln w="9144">
            <a:solidFill>
              <a:srgbClr val="8EF050">
                <a:alpha val="40000"/>
              </a:srgbClr>
            </a:solidFill>
          </a:ln>
        </p:spPr>
        <p:txBody>
          <a:bodyPr vertOverflow="clip" horzOverflow="clip" lIns="91440" tIns="45720" rIns="91440" bIns="45720" anchor="ctr"/>
          <a:lstStyle/>
          <a:p>
            <a:pPr algn="l">
              <a:buNone/>
            </a:pPr>
            <a:r>
              <a:rPr lang="en-US" sz="1400" b="1" dirty="0">
                <a:solidFill>
                  <a:srgbClr val="8EF050"/>
                </a:solidFill>
              </a:rPr>
              <a:t>SCOPES  </a:t>
            </a:r>
          </a:p>
          <a:p>
            <a:pPr algn="l">
              <a:buNone/>
            </a:pPr>
            <a:r>
              <a:rPr lang="en-US" sz="1400" dirty="0">
                <a:solidFill>
                  <a:srgbClr val="CCCCCC"/>
                </a:solidFill>
              </a:rPr>
              <a:t>Project: /.claude/</a:t>
            </a:r>
            <a:r>
              <a:rPr lang="en-US" sz="1400" dirty="0" err="1">
                <a:solidFill>
                  <a:srgbClr val="CCCCCC"/>
                </a:solidFill>
              </a:rPr>
              <a:t>settings.json</a:t>
            </a:r>
            <a:endParaRPr lang="en-US" sz="1400" dirty="0">
              <a:solidFill>
                <a:srgbClr val="CCCCCC"/>
              </a:solidFill>
            </a:endParaRPr>
          </a:p>
          <a:p>
            <a:pPr algn="l">
              <a:buNone/>
            </a:pPr>
            <a:r>
              <a:rPr lang="en-US" sz="1400" dirty="0">
                <a:solidFill>
                  <a:srgbClr val="CCCCCC"/>
                </a:solidFill>
              </a:rPr>
              <a:t>User: ~/.claude/</a:t>
            </a:r>
            <a:r>
              <a:rPr lang="en-US" sz="1400" dirty="0" err="1">
                <a:solidFill>
                  <a:srgbClr val="CCCCCC"/>
                </a:solidFill>
              </a:rPr>
              <a:t>settings.json</a:t>
            </a:r>
            <a:endParaRPr lang="en-US" sz="1400" dirty="0">
              <a:solidFill>
                <a:srgbClr val="CCCCCC"/>
              </a:solidFill>
            </a:endParaRPr>
          </a:p>
        </p:txBody>
      </p:sp>
      <p:pic>
        <p:nvPicPr>
          <p:cNvPr id="4" name="Picture 3" descr="A pixelated cartoon of a pig&#10;&#10;AI-generated content may be incorrect.">
            <a:extLst>
              <a:ext uri="{FF2B5EF4-FFF2-40B4-BE49-F238E27FC236}">
                <a16:creationId xmlns:a16="http://schemas.microsoft.com/office/drawing/2014/main" id="{6D477A47-0141-91F5-72AA-0E2F0D346896}"/>
              </a:ext>
            </a:extLst>
          </p:cNvPr>
          <p:cNvPicPr>
            <a:picLocks noChangeAspect="1"/>
          </p:cNvPicPr>
          <p:nvPr/>
        </p:nvPicPr>
        <p:blipFill>
          <a:blip r:embed="rId3"/>
          <a:stretch>
            <a:fillRect/>
          </a:stretch>
        </p:blipFill>
        <p:spPr>
          <a:xfrm>
            <a:off x="970010" y="1475044"/>
            <a:ext cx="863035" cy="863035"/>
          </a:xfrm>
          <a:prstGeom prst="rect">
            <a:avLst/>
          </a:prstGeom>
        </p:spPr>
      </p:pic>
      <p:pic>
        <p:nvPicPr>
          <p:cNvPr id="7" name="Picture 6" descr="A yellow hook with a white circle&#10;&#10;AI-generated content may be incorrect.">
            <a:extLst>
              <a:ext uri="{FF2B5EF4-FFF2-40B4-BE49-F238E27FC236}">
                <a16:creationId xmlns:a16="http://schemas.microsoft.com/office/drawing/2014/main" id="{3CF78CDA-526B-A5C6-C67D-B8BD71331B0E}"/>
              </a:ext>
            </a:extLst>
          </p:cNvPr>
          <p:cNvPicPr>
            <a:picLocks noChangeAspect="1"/>
          </p:cNvPicPr>
          <p:nvPr/>
        </p:nvPicPr>
        <p:blipFill>
          <a:blip r:embed="rId4"/>
          <a:stretch>
            <a:fillRect/>
          </a:stretch>
        </p:blipFill>
        <p:spPr>
          <a:xfrm>
            <a:off x="2456932" y="1460192"/>
            <a:ext cx="936625" cy="936625"/>
          </a:xfrm>
          <a:prstGeom prst="rect">
            <a:avLst/>
          </a:prstGeom>
        </p:spPr>
      </p:pic>
      <p:pic>
        <p:nvPicPr>
          <p:cNvPr id="8" name="Picture 7" descr="A yellow hook with a white circle&#10;&#10;AI-generated content may be incorrect.">
            <a:extLst>
              <a:ext uri="{FF2B5EF4-FFF2-40B4-BE49-F238E27FC236}">
                <a16:creationId xmlns:a16="http://schemas.microsoft.com/office/drawing/2014/main" id="{D02EBE72-FB49-7694-FBE1-105658E642EA}"/>
              </a:ext>
            </a:extLst>
          </p:cNvPr>
          <p:cNvPicPr>
            <a:picLocks noChangeAspect="1"/>
          </p:cNvPicPr>
          <p:nvPr/>
        </p:nvPicPr>
        <p:blipFill>
          <a:blip r:embed="rId4"/>
          <a:stretch>
            <a:fillRect/>
          </a:stretch>
        </p:blipFill>
        <p:spPr>
          <a:xfrm>
            <a:off x="5479532" y="1460192"/>
            <a:ext cx="936625" cy="936625"/>
          </a:xfrm>
          <a:prstGeom prst="rect">
            <a:avLst/>
          </a:prstGeom>
        </p:spPr>
      </p:pic>
      <p:pic>
        <p:nvPicPr>
          <p:cNvPr id="10" name="Picture 9" descr="A yellow gear with a blue tick in the center&#10;&#10;AI-generated content may be incorrect.">
            <a:extLst>
              <a:ext uri="{FF2B5EF4-FFF2-40B4-BE49-F238E27FC236}">
                <a16:creationId xmlns:a16="http://schemas.microsoft.com/office/drawing/2014/main" id="{B506A4AF-8FD3-3BE7-64F7-198F03D70ED8}"/>
              </a:ext>
            </a:extLst>
          </p:cNvPr>
          <p:cNvPicPr>
            <a:picLocks noChangeAspect="1"/>
          </p:cNvPicPr>
          <p:nvPr/>
        </p:nvPicPr>
        <p:blipFill>
          <a:blip r:embed="rId5"/>
          <a:stretch>
            <a:fillRect/>
          </a:stretch>
        </p:blipFill>
        <p:spPr>
          <a:xfrm>
            <a:off x="4094024" y="1593771"/>
            <a:ext cx="685042" cy="685042"/>
          </a:xfrm>
          <a:prstGeom prst="rect">
            <a:avLst/>
          </a:prstGeom>
        </p:spPr>
      </p:pic>
      <p:pic>
        <p:nvPicPr>
          <p:cNvPr id="13" name="Picture 12" descr="A clipboard with a green check mark and a graph&#10;&#10;AI-generated content may be incorrect.">
            <a:extLst>
              <a:ext uri="{FF2B5EF4-FFF2-40B4-BE49-F238E27FC236}">
                <a16:creationId xmlns:a16="http://schemas.microsoft.com/office/drawing/2014/main" id="{4913C687-D9A6-4D09-C899-4E69A903462E}"/>
              </a:ext>
            </a:extLst>
          </p:cNvPr>
          <p:cNvPicPr>
            <a:picLocks noChangeAspect="1"/>
          </p:cNvPicPr>
          <p:nvPr/>
        </p:nvPicPr>
        <p:blipFill>
          <a:blip r:embed="rId6"/>
          <a:stretch>
            <a:fillRect/>
          </a:stretch>
        </p:blipFill>
        <p:spPr>
          <a:xfrm>
            <a:off x="7158676" y="1585304"/>
            <a:ext cx="664536" cy="664536"/>
          </a:xfrm>
          <a:prstGeom prst="rect">
            <a:avLst/>
          </a:prstGeom>
        </p:spPr>
      </p:pic>
    </p:spTree>
    <p:extLst>
      <p:ext uri="{BB962C8B-B14F-4D97-AF65-F5344CB8AC3E}">
        <p14:creationId xmlns:p14="http://schemas.microsoft.com/office/powerpoint/2010/main" val="834827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AGENT TEAMS</a:t>
            </a:r>
          </a:p>
        </p:txBody>
      </p:sp>
      <p:sp>
        <p:nvSpPr>
          <p:cNvPr id="4" name="Text Placeholder 3"/>
          <p:cNvSpPr>
            <a:spLocks noGrp="1"/>
          </p:cNvSpPr>
          <p:nvPr>
            <p:ph type="body" sz="quarter" idx="10"/>
          </p:nvPr>
        </p:nvSpPr>
        <p:spPr>
          <a:xfrm>
            <a:off x="573853" y="1401951"/>
            <a:ext cx="3805188" cy="3041814"/>
          </a:xfrm>
        </p:spPr>
        <p:txBody>
          <a:bodyPr/>
          <a:lstStyle/>
          <a:p>
            <a:r>
              <a:rPr lang="en-US" sz="1800" b="1" dirty="0"/>
              <a:t>Why teams beat single agents:</a:t>
            </a:r>
          </a:p>
          <a:p>
            <a:pPr marL="285750" indent="-285750">
              <a:buClr>
                <a:schemeClr val="tx2"/>
              </a:buClr>
              <a:buSzPct val="130000"/>
              <a:buFont typeface="Wingdings" panose="05000000000000000000" pitchFamily="2" charset="2"/>
              <a:buChar char="§"/>
            </a:pPr>
            <a:r>
              <a:rPr lang="en-US" sz="1600" dirty="0"/>
              <a:t>Each teammate has its own context window</a:t>
            </a:r>
          </a:p>
          <a:p>
            <a:pPr marL="285750" indent="-285750">
              <a:buClr>
                <a:schemeClr val="tx2"/>
              </a:buClr>
              <a:buSzPct val="130000"/>
              <a:buFont typeface="Wingdings" panose="05000000000000000000" pitchFamily="2" charset="2"/>
              <a:buChar char="§"/>
            </a:pPr>
            <a:r>
              <a:rPr lang="en-US" sz="1600" dirty="0"/>
              <a:t>Teammates message each other directly</a:t>
            </a:r>
          </a:p>
          <a:p>
            <a:pPr marL="285750" indent="-285750">
              <a:buClr>
                <a:schemeClr val="tx2"/>
              </a:buClr>
              <a:buSzPct val="130000"/>
              <a:buFont typeface="Wingdings" panose="05000000000000000000" pitchFamily="2" charset="2"/>
              <a:buChar char="§"/>
            </a:pPr>
            <a:r>
              <a:rPr lang="en-US" sz="1600" dirty="0"/>
              <a:t>Parallel: frontend, backend &amp; tests at once</a:t>
            </a:r>
          </a:p>
          <a:p>
            <a:pPr marL="285750" indent="-285750">
              <a:buClr>
                <a:schemeClr val="tx2"/>
              </a:buClr>
              <a:buSzPct val="130000"/>
              <a:buFont typeface="Wingdings" panose="05000000000000000000" pitchFamily="2" charset="2"/>
              <a:buChar char="§"/>
            </a:pPr>
            <a:r>
              <a:rPr lang="en-US" sz="1600" dirty="0"/>
              <a:t>One lead coordinates — you stay in control</a:t>
            </a:r>
          </a:p>
          <a:p>
            <a:pPr>
              <a:spcBef>
                <a:spcPts val="1000"/>
              </a:spcBef>
            </a:pPr>
            <a:r>
              <a:rPr lang="en-US" sz="1400" dirty="0">
                <a:solidFill>
                  <a:srgbClr val="BBBBBB"/>
                </a:solidFill>
              </a:rPr>
              <a:t>Add env variable in .</a:t>
            </a:r>
            <a:r>
              <a:rPr lang="en-US" sz="1400" dirty="0" err="1">
                <a:solidFill>
                  <a:srgbClr val="BBBBBB"/>
                </a:solidFill>
              </a:rPr>
              <a:t>claude</a:t>
            </a:r>
            <a:r>
              <a:rPr lang="en-US" sz="1400" dirty="0">
                <a:solidFill>
                  <a:srgbClr val="BBBBBB"/>
                </a:solidFill>
              </a:rPr>
              <a:t>/</a:t>
            </a:r>
            <a:r>
              <a:rPr lang="en-US" sz="1400" dirty="0" err="1">
                <a:solidFill>
                  <a:srgbClr val="BBBBBB"/>
                </a:solidFill>
              </a:rPr>
              <a:t>settings.json</a:t>
            </a:r>
            <a:r>
              <a:rPr lang="en-US" sz="1400" dirty="0">
                <a:solidFill>
                  <a:srgbClr val="BBBBBB"/>
                </a:solidFill>
              </a:rPr>
              <a:t>: </a:t>
            </a:r>
            <a:r>
              <a:rPr lang="en-US" sz="1200" dirty="0">
                <a:solidFill>
                  <a:srgbClr val="BBBBBB"/>
                </a:solidFill>
              </a:rPr>
              <a:t>CLAUDE_CODE_EXPERIMENTAL_AGENT_TEAMS=1</a:t>
            </a:r>
          </a:p>
        </p:txBody>
      </p:sp>
      <p:sp>
        <p:nvSpPr>
          <p:cNvPr id="5" name="Subtitle 4"/>
          <p:cNvSpPr>
            <a:spLocks noGrp="1"/>
          </p:cNvSpPr>
          <p:nvPr>
            <p:ph type="subTitle" idx="1"/>
          </p:nvPr>
        </p:nvSpPr>
        <p:spPr/>
        <p:txBody>
          <a:bodyPr/>
          <a:lstStyle/>
          <a:p>
            <a:r>
              <a:rPr lang="en-GB" dirty="0"/>
              <a:t>Coordinate multiple Claude Code sessions in parallel</a:t>
            </a:r>
            <a:endParaRPr lang="en-IT" dirty="0"/>
          </a:p>
        </p:txBody>
      </p:sp>
      <p:pic>
        <p:nvPicPr>
          <p:cNvPr id="6" name="Picture 5" descr="A diagram of a workflow&#10;&#10;AI-generated content may be incorrect.">
            <a:extLst>
              <a:ext uri="{FF2B5EF4-FFF2-40B4-BE49-F238E27FC236}">
                <a16:creationId xmlns:a16="http://schemas.microsoft.com/office/drawing/2014/main" id="{0F3A473A-3F71-3178-EF51-4D8151F5A737}"/>
              </a:ext>
            </a:extLst>
          </p:cNvPr>
          <p:cNvPicPr>
            <a:picLocks noChangeAspect="1"/>
          </p:cNvPicPr>
          <p:nvPr/>
        </p:nvPicPr>
        <p:blipFill>
          <a:blip r:embed="rId3"/>
          <a:srcRect l="42505" t="11081"/>
          <a:stretch>
            <a:fillRect/>
          </a:stretch>
        </p:blipFill>
        <p:spPr>
          <a:xfrm>
            <a:off x="4379040" y="1495965"/>
            <a:ext cx="4468761" cy="2626234"/>
          </a:xfrm>
          <a:prstGeom prst="rect">
            <a:avLst/>
          </a:prstGeom>
        </p:spPr>
      </p:pic>
      <p:sp>
        <p:nvSpPr>
          <p:cNvPr id="7" name="TextBox 6">
            <a:extLst>
              <a:ext uri="{FF2B5EF4-FFF2-40B4-BE49-F238E27FC236}">
                <a16:creationId xmlns:a16="http://schemas.microsoft.com/office/drawing/2014/main" id="{0951C92A-C385-A05C-EE33-8DB6B967D4DB}"/>
              </a:ext>
            </a:extLst>
          </p:cNvPr>
          <p:cNvSpPr txBox="1"/>
          <p:nvPr/>
        </p:nvSpPr>
        <p:spPr>
          <a:xfrm>
            <a:off x="6377445" y="360831"/>
            <a:ext cx="1772408" cy="338554"/>
          </a:xfrm>
          <a:prstGeom prst="rect">
            <a:avLst/>
          </a:prstGeom>
          <a:noFill/>
        </p:spPr>
        <p:txBody>
          <a:bodyPr wrap="none" rtlCol="0">
            <a:spAutoFit/>
          </a:bodyPr>
          <a:lstStyle/>
          <a:p>
            <a:r>
              <a:rPr lang="en-IT" sz="1600" b="1" dirty="0">
                <a:solidFill>
                  <a:schemeClr val="accent5">
                    <a:lumMod val="75000"/>
                  </a:schemeClr>
                </a:solidFill>
              </a:rPr>
              <a:t>EXPERIMENTAL</a:t>
            </a:r>
          </a:p>
        </p:txBody>
      </p:sp>
    </p:spTree>
    <p:extLst>
      <p:ext uri="{BB962C8B-B14F-4D97-AF65-F5344CB8AC3E}">
        <p14:creationId xmlns:p14="http://schemas.microsoft.com/office/powerpoint/2010/main" val="3773293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51109-6FC6-E53B-F558-3CAAEF02620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3127D0-F3A6-F9A7-20EC-7AB158A4D131}"/>
              </a:ext>
            </a:extLst>
          </p:cNvPr>
          <p:cNvSpPr>
            <a:spLocks noGrp="1"/>
          </p:cNvSpPr>
          <p:nvPr>
            <p:ph type="ctrTitle"/>
          </p:nvPr>
        </p:nvSpPr>
        <p:spPr/>
        <p:txBody>
          <a:bodyPr/>
          <a:lstStyle/>
          <a:p>
            <a:r>
              <a:rPr lang="en-US" sz="4400" b="1" dirty="0"/>
              <a:t>Let’s see it in action!</a:t>
            </a:r>
          </a:p>
        </p:txBody>
      </p:sp>
    </p:spTree>
    <p:extLst>
      <p:ext uri="{BB962C8B-B14F-4D97-AF65-F5344CB8AC3E}">
        <p14:creationId xmlns:p14="http://schemas.microsoft.com/office/powerpoint/2010/main" val="952615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268FF-D143-123C-2968-9AC21E6FEE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A1614BA-0B7A-A97B-0968-E04AB0479726}"/>
              </a:ext>
            </a:extLst>
          </p:cNvPr>
          <p:cNvSpPr>
            <a:spLocks noGrp="1"/>
          </p:cNvSpPr>
          <p:nvPr>
            <p:ph type="ctrTitle"/>
          </p:nvPr>
        </p:nvSpPr>
        <p:spPr/>
        <p:txBody>
          <a:bodyPr/>
          <a:lstStyle/>
          <a:p>
            <a:r>
              <a:rPr lang="en-US" sz="5000" b="1" dirty="0"/>
              <a:t>THANK YOU!</a:t>
            </a:r>
          </a:p>
        </p:txBody>
      </p:sp>
    </p:spTree>
    <p:extLst>
      <p:ext uri="{BB962C8B-B14F-4D97-AF65-F5344CB8AC3E}">
        <p14:creationId xmlns:p14="http://schemas.microsoft.com/office/powerpoint/2010/main" val="3175954989"/>
      </p:ext>
    </p:extLst>
  </p:cSld>
  <p:clrMapOvr>
    <a:masterClrMapping/>
  </p:clrMapOvr>
</p:sld>
</file>

<file path=ppt/theme/theme1.xml><?xml version="1.0" encoding="utf-8"?>
<a:theme xmlns:a="http://schemas.openxmlformats.org/drawingml/2006/main" name="Reply [1775210521292]">
  <a:themeElements>
    <a:clrScheme name="Custom 28">
      <a:dk1>
        <a:srgbClr val="000000"/>
      </a:dk1>
      <a:lt1>
        <a:sysClr val="window" lastClr="FFFFFF"/>
      </a:lt1>
      <a:dk2>
        <a:srgbClr val="053238"/>
      </a:dk2>
      <a:lt2>
        <a:srgbClr val="00B13F"/>
      </a:lt2>
      <a:accent1>
        <a:srgbClr val="8EF050"/>
      </a:accent1>
      <a:accent2>
        <a:srgbClr val="00B140"/>
      </a:accent2>
      <a:accent3>
        <a:srgbClr val="2E7CFA"/>
      </a:accent3>
      <a:accent4>
        <a:srgbClr val="940758"/>
      </a:accent4>
      <a:accent5>
        <a:srgbClr val="F54343"/>
      </a:accent5>
      <a:accent6>
        <a:srgbClr val="FFC000"/>
      </a:accent6>
      <a:hlink>
        <a:srgbClr val="D1E420"/>
      </a:hlink>
      <a:folHlink>
        <a:srgbClr val="22C0B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FFFFFF"/>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err="1" smtClean="0"/>
        </a:defPPr>
      </a:lstStyle>
    </a:txDef>
  </a:objectDefaults>
  <a:extraClrSchemeLst/>
  <a:extLst>
    <a:ext uri="{05A4C25C-085E-4340-85A3-A5531E510DB2}">
      <thm15:themeFamily xmlns:thm15="http://schemas.microsoft.com/office/thememl/2012/main" name="Presentation4" id="{097ED64C-1469-4E9B-A6EE-E169F18D7DB3}" vid="{B73C506B-0DF6-4CFA-9B1D-8AAF7C797600}"/>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616ED7-40C3-EC4A-B74D-EC2AD9E99EAF}">
  <we:reference id="wa200010001" version="1.0.0.1" store="en-GB" storeType="OMEX"/>
  <we:alternateReferences>
    <we:reference id="WA200010001" version="1.0.0.1" store="WA200010001" storeType="OMEX"/>
  </we:alternateReferences>
  <we:properties>
    <we:property name="claude.fileId" value="&quot;d3a0434d-de20-40e1-9575-3eb972be4d15&quot;"/>
  </we:properties>
  <we:bindings/>
  <we:snapshot xmlns:r="http://schemas.openxmlformats.org/officeDocument/2006/relationships"/>
</we:webextension>
</file>

<file path=docMetadata/LabelInfo.xml><?xml version="1.0" encoding="utf-8"?>
<clbl:labelList xmlns:clbl="http://schemas.microsoft.com/office/2020/mipLabelMetadata">
  <clbl:label id="{b00367e2-193a-4f48-94de-7245d45c0947}" enabled="0" method="" siteId="{b00367e2-193a-4f48-94de-7245d45c0947}" removed="1"/>
</clbl:labelList>
</file>

<file path=docProps/app.xml><?xml version="1.0" encoding="utf-8"?>
<Properties xmlns="http://schemas.openxmlformats.org/officeDocument/2006/extended-properties" xmlns:vt="http://schemas.openxmlformats.org/officeDocument/2006/docPropsVTypes">
  <Template>Reply</Template>
  <TotalTime>2650</TotalTime>
  <Words>5830</Words>
  <Application>Microsoft Macintosh PowerPoint</Application>
  <PresentationFormat>On-screen Show (16:9)</PresentationFormat>
  <Paragraphs>532</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Black</vt:lpstr>
      <vt:lpstr>Calibri</vt:lpstr>
      <vt:lpstr>Courier New</vt:lpstr>
      <vt:lpstr>Wingdings</vt:lpstr>
      <vt:lpstr>Reply [1775210521292]</vt:lpstr>
      <vt:lpstr>CLAUDE CODE Agentic AI Coding</vt:lpstr>
      <vt:lpstr>ABOUT us</vt:lpstr>
      <vt:lpstr>AGENDA</vt:lpstr>
      <vt:lpstr>WHAT IS CLAUDE CODE?</vt:lpstr>
      <vt:lpstr>WHERE DOES IT RUN?</vt:lpstr>
      <vt:lpstr>HOW IT ACTUALLY WORKS</vt:lpstr>
      <vt:lpstr>THE AGENTIC LOOP</vt:lpstr>
      <vt:lpstr>BUILT-IN TOOLS</vt:lpstr>
      <vt:lpstr>MEMORY &amp; settings</vt:lpstr>
      <vt:lpstr>Context window</vt:lpstr>
      <vt:lpstr>HOW CLAUDE REMEMBERS</vt:lpstr>
      <vt:lpstr>HOW CLAUDE REMEMBERS</vt:lpstr>
      <vt:lpstr>EXTENDING CLAUDE Skills  ·  mcp  ·  Subagents  ·  Hooks</vt:lpstr>
      <vt:lpstr>SKILLS</vt:lpstr>
      <vt:lpstr>MCP</vt:lpstr>
      <vt:lpstr>SUBAGENTS</vt:lpstr>
      <vt:lpstr>HOOKS</vt:lpstr>
      <vt:lpstr>AGENT TEAMS</vt:lpstr>
      <vt:lpstr>Let’s see it in action!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Elisabetta Como</dc:creator>
  <cp:keywords/>
  <dc:description/>
  <cp:lastModifiedBy>Alessandro Resta</cp:lastModifiedBy>
  <cp:revision>11</cp:revision>
  <dcterms:created xsi:type="dcterms:W3CDTF">2025-03-20T10:44:57Z</dcterms:created>
  <dcterms:modified xsi:type="dcterms:W3CDTF">2026-04-03T12:47:28Z</dcterms:modified>
  <cp:category/>
</cp:coreProperties>
</file>